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100bdb2459d4952" /><Relationship Type="http://schemas.openxmlformats.org/officeDocument/2006/relationships/extended-properties" Target="/docProps/app.xml" Id="Rdda41e1e9b35475c" /><Relationship Type="http://schemas.openxmlformats.org/officeDocument/2006/relationships/officeDocument" Target="/ppt/presentation.xml" Id="Rb95beb12cda9400f" /></Relationships>
</file>

<file path=ppt/presentation.xml><?xml version="1.0" encoding="utf-8"?>
<p:presentation xmlns:p="http://schemas.openxmlformats.org/presentationml/2006/main">
  <p:sldMasterIdLst>
    <p:sldMasterId xmlns:r="http://schemas.openxmlformats.org/officeDocument/2006/relationships" id="2147483648" r:id="R3b19b3051cea4869"/>
  </p:sldMasterIdLst>
  <p:notesMasterIdLst>
    <p:notesMasterId xmlns:r="http://schemas.openxmlformats.org/officeDocument/2006/relationships" r:id="R922c4a54a38d4d46"/>
  </p:notesMasterIdLst>
  <p:sldIdLst>
    <p:sldId xmlns:r="http://schemas.openxmlformats.org/officeDocument/2006/relationships" id="256" r:id="Rbcf1092c497b4f04"/>
    <p:sldId xmlns:r="http://schemas.openxmlformats.org/officeDocument/2006/relationships" id="257" r:id="Rc35b417674cc4b3f"/>
    <p:sldId xmlns:r="http://schemas.openxmlformats.org/officeDocument/2006/relationships" id="258" r:id="R2a0b9d1caea64c58"/>
    <p:sldId xmlns:r="http://schemas.openxmlformats.org/officeDocument/2006/relationships" id="259" r:id="R531b05c7b15d4f9b"/>
    <p:sldId xmlns:r="http://schemas.openxmlformats.org/officeDocument/2006/relationships" id="260" r:id="R76b5b8a158704f6f"/>
    <p:sldId xmlns:r="http://schemas.openxmlformats.org/officeDocument/2006/relationships" id="261" r:id="R0cc56a22a44e4b4d"/>
    <p:sldId xmlns:r="http://schemas.openxmlformats.org/officeDocument/2006/relationships" id="262" r:id="Re17f98c0c38d41e9"/>
    <p:sldId xmlns:r="http://schemas.openxmlformats.org/officeDocument/2006/relationships" id="263" r:id="Rf2c095dad11b441b"/>
    <p:sldId xmlns:r="http://schemas.openxmlformats.org/officeDocument/2006/relationships" id="264" r:id="Rcf64438b67104a9b"/>
    <p:sldId xmlns:r="http://schemas.openxmlformats.org/officeDocument/2006/relationships" id="265" r:id="Rc88ab8189b394611"/>
    <p:sldId xmlns:r="http://schemas.openxmlformats.org/officeDocument/2006/relationships" id="266" r:id="R8c76e68b49454099"/>
    <p:sldId xmlns:r="http://schemas.openxmlformats.org/officeDocument/2006/relationships" id="267" r:id="R8d4767b8d97546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11319f998644014" /><Relationship Type="http://schemas.openxmlformats.org/officeDocument/2006/relationships/slideMaster" Target="/ppt/slideMasters/slideMaster1.xml" Id="R3b19b3051cea4869" /><Relationship Type="http://schemas.openxmlformats.org/officeDocument/2006/relationships/notesMaster" Target="/ppt/notesMasters/notesMaster1.xml" Id="R922c4a54a38d4d46" /><Relationship Type="http://schemas.openxmlformats.org/officeDocument/2006/relationships/presProps" Target="/ppt/presProps.xml" Id="R04cc60d923044975" /><Relationship Type="http://schemas.openxmlformats.org/officeDocument/2006/relationships/tableStyles" Target="/ppt/tableStyles.xml" Id="R8faf6103b47e4914" /><Relationship Type="http://schemas.openxmlformats.org/officeDocument/2006/relationships/slide" Target="/ppt/slides/slide1.xml" Id="Rbcf1092c497b4f04" /><Relationship Type="http://schemas.openxmlformats.org/officeDocument/2006/relationships/slide" Target="/ppt/slides/slide2.xml" Id="Rc35b417674cc4b3f" /><Relationship Type="http://schemas.openxmlformats.org/officeDocument/2006/relationships/slide" Target="/ppt/slides/slide3.xml" Id="R2a0b9d1caea64c58" /><Relationship Type="http://schemas.openxmlformats.org/officeDocument/2006/relationships/slide" Target="/ppt/slides/slide4.xml" Id="R531b05c7b15d4f9b" /><Relationship Type="http://schemas.openxmlformats.org/officeDocument/2006/relationships/slide" Target="/ppt/slides/slide5.xml" Id="R76b5b8a158704f6f" /><Relationship Type="http://schemas.openxmlformats.org/officeDocument/2006/relationships/slide" Target="/ppt/slides/slide6.xml" Id="R0cc56a22a44e4b4d" /><Relationship Type="http://schemas.openxmlformats.org/officeDocument/2006/relationships/slide" Target="/ppt/slides/slide7.xml" Id="Re17f98c0c38d41e9" /><Relationship Type="http://schemas.openxmlformats.org/officeDocument/2006/relationships/slide" Target="/ppt/slides/slide8.xml" Id="Rf2c095dad11b441b" /><Relationship Type="http://schemas.openxmlformats.org/officeDocument/2006/relationships/slide" Target="/ppt/slides/slide9.xml" Id="Rcf64438b67104a9b" /><Relationship Type="http://schemas.openxmlformats.org/officeDocument/2006/relationships/slide" Target="/ppt/slides/slide10.xml" Id="Rc88ab8189b394611" /><Relationship Type="http://schemas.openxmlformats.org/officeDocument/2006/relationships/slide" Target="/ppt/slides/slide11.xml" Id="R8c76e68b49454099" /><Relationship Type="http://schemas.openxmlformats.org/officeDocument/2006/relationships/slide" Target="/ppt/slides/slide12.xml" Id="R8d4767b8d97546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4491707cac44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6e2dec7b39478d" /><Relationship Type="http://schemas.openxmlformats.org/officeDocument/2006/relationships/notesMaster" Target="/ppt/notesMasters/notesMaster1.xml" Id="R3397296812274b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895d79aecf4ab8" /><Relationship Type="http://schemas.openxmlformats.org/officeDocument/2006/relationships/notesMaster" Target="/ppt/notesMasters/notesMaster1.xml" Id="R90dcee02efb746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b4698ecaa044946" /><Relationship Type="http://schemas.openxmlformats.org/officeDocument/2006/relationships/notesMaster" Target="/ppt/notesMasters/notesMaster1.xml" Id="Rbae60578f5e146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209ef526c445dd" /><Relationship Type="http://schemas.openxmlformats.org/officeDocument/2006/relationships/notesMaster" Target="/ppt/notesMasters/notesMaster1.xml" Id="R61f01303fcc24c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c910e08d0e4d4b" /><Relationship Type="http://schemas.openxmlformats.org/officeDocument/2006/relationships/notesMaster" Target="/ppt/notesMasters/notesMaster1.xml" Id="R6c8ae2abcd5548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4b6060257640ff" /><Relationship Type="http://schemas.openxmlformats.org/officeDocument/2006/relationships/notesMaster" Target="/ppt/notesMasters/notesMaster1.xml" Id="R5dddc4fd3743479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636e1770894733" /><Relationship Type="http://schemas.openxmlformats.org/officeDocument/2006/relationships/notesMaster" Target="/ppt/notesMasters/notesMaster1.xml" Id="Rb7039c7912374c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4adac5a49924b60" /><Relationship Type="http://schemas.openxmlformats.org/officeDocument/2006/relationships/notesMaster" Target="/ppt/notesMasters/notesMaster1.xml" Id="Rd20bac5db9a24f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a8b7c797fc46db" /><Relationship Type="http://schemas.openxmlformats.org/officeDocument/2006/relationships/notesMaster" Target="/ppt/notesMasters/notesMaster1.xml" Id="R39b1221cf0994ca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75f77c575994417" /><Relationship Type="http://schemas.openxmlformats.org/officeDocument/2006/relationships/notesMaster" Target="/ppt/notesMasters/notesMaster1.xml" Id="R75355b8096fc4e6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67ad22abc2467c" /><Relationship Type="http://schemas.openxmlformats.org/officeDocument/2006/relationships/notesMaster" Target="/ppt/notesMasters/notesMaster1.xml" Id="R5fdd3c0473bc4c5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98ea6df8e4a4de3" /><Relationship Type="http://schemas.openxmlformats.org/officeDocument/2006/relationships/notesMaster" Target="/ppt/notesMasters/notesMaster1.xml" Id="R717ef2e7ff044f2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sunum teknik jüri içindir. Ana iddiamız, kuruluşlar arasında ürün izini korurken ticari veriyi yalnız yetkili taraflarla paylaşmaktır. Kaynak: docs/ARCHITECTURE.md. Takım adı veya gerçek kurum ortaklığı varsayılmamıştır.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Bunlar pilotun cevapladığı sorulardır. Fiziksel ürünün doğruluğunu tek başına blokzincir garanti etmez. Kaynak: docs/ARCHITECTURE.md ve docs/SECURITY_AND_PRIVACY.md.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CREATED, PICKUP_PENDING, IN_TRANSPORT, DELIVERY_PENDING, RECEIVED, RETAIL_REPORTED. Nakliye kaydı IN_TRANSPORT durumunda sürümü artırır. Kaynak: docs/STATE_MACHINE.md.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Arayüz Spring Boot'a, backend Fabric Gateway'e bağlanır. Simülatörlere sadece backend erişir. Chaincode HTTP çağırmaz. Dört uygulama MSP'si, dört peer, üç Raft orderer aynı yerel makinededir. İşlemler Retailer ve Regulator tarafından endorse edilir. Kaynak: docs/ARCHITECTURE.md ve network/config/chaincode.env.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tradePrivate: Producer/Retailer/Regulator. freightPrivate: Logistics/Retailer/Regulator. retailAuditPrivate: Retailer/Regulator. Saltlı taahhüt ve imzalar belgeyi bağlar. Kuruluş yöneticisine veya tek makine yöneticisine karşı gizlilik iddiası yoktur. Kaynak: docs/SECURITY_AND_PRIVACY.md.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Dört yerel Ed25519 kaynak anahtarı değişmez kayıtla güvenilir kabul edilir. Kaynak: docs/STAGE4_REPORT.md, docs/STAGE5_REPORT.md ve docs/STAGE7_REPORT.md. Kaynakların gerçekliği pilot varsayımıdır.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kuruş tamsayısıyla tutulur. Nakliye toplamı 200 TL/100 kg, açıklayıcı bağlamdır ve oran hesabından düşülmez. Eşik CFG-PRICE001 için 5000 baz puandır. Ortam ayarı zincir politikasıyla eşleşmelidir. Yeni eşik yeni politika gerektirir. Kaynak: scripts/demo.py ve docs/STAGE6_UI.md.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IN_REVIEW, RESOLVED ayrı inceleme durumlarıdır. Alış yaşam döngüsü RETAIL_REPORTED olarak kalır. Sonuçlar EXPLAINED, FOLLOW_UP_RECOMMENDED veya INSUFFICIENT_EVIDENCE olabilir. Kaynak: docs/STATE_MACHINE.md ve docs/STAGE6_REPORT.md.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docs/STAGE6_UI.md ve scripts/demo.py. Sağdaki alanlar sabit sentetik demo lotunun kamu görünümünü özetler. Gerçek arayüz görüntüsü çevrimdışı paketin kayıtlı ekranlar bölümündedir. Çevrimdışı ekran görüntüsü canlı sorgu değildir.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docs/STAGE7_REPORT.md ve docs/STAGE7_MEASUREMENTS.json. Gateway gönderimden VALID'e n=30 medyan 2022,271 ms p95 2042,957 ms. Ortak sorgu n=30 medyan 2,998 ms p95 3,941 ms. Tam rota n=6 medyan 16523,849 ms p95 16592,872 ms. Isınma dışlandı, eşzamanlılık 1, p95 nearest-rank. HTTP n=42 medyan 2045,039 ms. Farklı ölçümlerin başlangıç/bitiş noktaları aynı değildir.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Sunum slaytları teknik anlatım için, üç dakikalık akış uygulama gösterimi içindir. Tüm yedi yazma işlemini sahnede yeniden üretmek yerine önceden seed edilen gerçek kayıtları gösterin. Ayrıntılı konuşma metni: docs/competition/DEMO_3MIN.md.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pilot aynı makinede çalışır. Raft üç orderer içerir ama ortak makine arızasını tolere etmez. Tam kayıtlı veri ve fiziksel dünya arasında doğruluk varsayımı vardır. Kaynak: docs/ARCHITECTURE.md, docs/STAGE7_REPORT.md, docs/competition/OFFLINE.md.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270d57b64f44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055868c9b04403" /><Relationship Type="http://schemas.openxmlformats.org/officeDocument/2006/relationships/slideLayout" Target="/ppt/slideLayouts/slideLayout1.xml" Id="R6b90d1f06a4a4c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90d1f06a4a4c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c26640d31f04533" /><Relationship Type="http://schemas.openxmlformats.org/officeDocument/2006/relationships/notesSlide" Target="/ppt/notesSlides/notesSlide1.xml" Id="Rfd7e0344cef244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8bc394cc0a644a5" /><Relationship Type="http://schemas.openxmlformats.org/officeDocument/2006/relationships/notesSlide" Target="/ppt/notesSlides/notesSlide2.xml" Id="R97d39f2087b842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8bf206189474dad" /><Relationship Type="http://schemas.openxmlformats.org/officeDocument/2006/relationships/notesSlide" Target="/ppt/notesSlides/notesSlide3.xml" Id="Raa45bcad89a74f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1be1fedc7f940ae" /><Relationship Type="http://schemas.openxmlformats.org/officeDocument/2006/relationships/notesSlide" Target="/ppt/notesSlides/notesSlide4.xml" Id="R2d557ce44a3545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446db47e64d47c7" /><Relationship Type="http://schemas.openxmlformats.org/officeDocument/2006/relationships/notesSlide" Target="/ppt/notesSlides/notesSlide5.xml" Id="Rbe00d949fc994d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aeb4ab2e0c945b9" /><Relationship Type="http://schemas.openxmlformats.org/officeDocument/2006/relationships/notesSlide" Target="/ppt/notesSlides/notesSlide6.xml" Id="R66ce8ef7d84744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e7a51379e384d9f" /><Relationship Type="http://schemas.openxmlformats.org/officeDocument/2006/relationships/chart" Target="/ppt/slides/charts/chart1.xml" Id="R8ace080dc2fb4de2" /><Relationship Type="http://schemas.openxmlformats.org/officeDocument/2006/relationships/notesSlide" Target="/ppt/notesSlides/notesSlide7.xml" Id="R895bc6985def42c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869ea63e9f247aa" /><Relationship Type="http://schemas.openxmlformats.org/officeDocument/2006/relationships/notesSlide" Target="/ppt/notesSlides/notesSlide8.xml" Id="Rbaf6f0e3ac11411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875bbaff5094ceb" /><Relationship Type="http://schemas.openxmlformats.org/officeDocument/2006/relationships/notesSlide" Target="/ppt/notesSlides/notesSlide9.xml" Id="R9c6ebc5a77774f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822320ca3284537" /><Relationship Type="http://schemas.openxmlformats.org/officeDocument/2006/relationships/notesSlide" Target="/ppt/notesSlides/notesSlide10.xml" Id="Rdd9a603e26bf40c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a142b0880d14894" /><Relationship Type="http://schemas.openxmlformats.org/officeDocument/2006/relationships/notesSlide" Target="/ppt/notesSlides/notesSlide11.xml" Id="Ra33a85f4f6e0438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5409c5be2be418a" /><Relationship Type="http://schemas.openxmlformats.org/officeDocument/2006/relationships/notesSlide" Target="/ppt/notesSlides/notesSlide12.xml" Id="Rc69429dafbb1492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Artış (%)</c:v>
          </c:tx>
          <c:spPr>
            <a:solidFill xmlns:a="http://schemas.openxmlformats.org/drawingml/2006/main">
              <a:srgbClr val="23543B"/>
            </a:solidFill>
          </c:spPr>
          <c:cat>
            <c:strRef>
              <c:f>'Chart Data'!$A$2:$A$3</c:f>
              <c:strCache>
                <c:ptCount val="2"/>
                <c:pt idx="0">
                  <c:v>Normal</c:v>
                </c:pt>
                <c:pt idx="1">
                  <c:v>Şüpheli</c:v>
                </c:pt>
              </c:strCache>
            </c:strRef>
          </c:cat>
          <c:val>
            <c:numRef>
              <c:f>'Chart Data'!$B$2:$B$3</c:f>
              <c:numCache>
                <c:formatCode>General</c:formatCode>
                <c:ptCount val="2"/>
                <c:pt idx="0">
                  <c:v>40</c:v>
                </c:pt>
                <c:pt idx="1">
                  <c:v>85</c:v>
                </c:pt>
              </c:numCache>
            </c:numRef>
          </c:val>
        </c:ser>
        <c:ser>
          <c:idx val="1"/>
          <c:order val="1"/>
          <c:tx>
            <c:v>Pilot eşiği (%)</c:v>
          </c:tx>
          <c:spPr>
            <a:solidFill xmlns:a="http://schemas.openxmlformats.org/drawingml/2006/main">
              <a:srgbClr val="AC672D"/>
            </a:solidFill>
          </c:spPr>
          <c:cat>
            <c:strRef>
              <c:f>'Chart Data'!$C$2:$C$3</c:f>
              <c:strCache>
                <c:ptCount val="2"/>
                <c:pt idx="0">
                  <c:v>Normal</c:v>
                </c:pt>
                <c:pt idx="1">
                  <c:v>Şüpheli</c:v>
                </c:pt>
              </c:strCache>
            </c:strRef>
          </c:cat>
          <c:val>
            <c:numRef>
              <c:f>'Chart Data'!$D$2:$D$3</c:f>
              <c:numCache>
                <c:formatCode>General</c:formatCode>
                <c:ptCount val="2"/>
                <c:pt idx="0">
                  <c:v>50</c:v>
                </c:pt>
                <c:pt idx="1">
                  <c:v>50</c:v>
                </c:pt>
              </c:numCache>
            </c:numRef>
          </c:val>
        </c:ser>
        <c:dLbls>
          <c:txPr>
            <a:bodyPr xmlns:a="http://schemas.openxmlformats.org/drawingml/2006/main" anchorCtr="1"/>
            <a:lstStyle xmlns:a="http://schemas.openxmlformats.org/drawingml/2006/main"/>
            <a:p xmlns:a="http://schemas.openxmlformats.org/drawingml/2006/main">
              <a:pPr>
                <a:defRPr sz="1650">
                  <a:latin typeface="Liberation Sans"/>
                  <a:ea typeface="Liberation Sans"/>
                  <a:cs typeface="Liberation San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Liberation Sans"/>
                <a:ea typeface="Liberation Sans"/>
                <a:cs typeface="Liberation Sans"/>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Liberation Sans"/>
                <a:ea typeface="Liberation Sans"/>
                <a:cs typeface="Liberation Sans"/>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Liberation Sans"/>
              <a:ea typeface="Liberation Sans"/>
              <a:cs typeface="Liberation Sans"/>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A9F49A7-858E-4776-A501-4D226CABFE4E}"/>
              </a:ext>
            </a:extLst>
          </p:cNvPr>
          <p:cNvSpPr>
            <a:spLocks xmlns:a="http://schemas.openxmlformats.org/drawingml/2006/main" noGrp="1"/>
          </p:cNvSpPr>
          <p:nvPr/>
        </p:nvSpPr>
        <p:spPr>
          <a:xfrm xmlns:a="http://schemas.openxmlformats.org/drawingml/2006/main">
            <a:off x="619125" y="428625"/>
            <a:ext cx="10906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93B2B"/>
                </a:solidFill>
                <a:latin typeface="Liberation Sans"/>
                <a:ea typeface="Liberation Sans"/>
                <a:cs typeface="Liberation Sans"/>
              </a:defRPr>
            </a:pPr>
            <a:r>
              <a:rPr sz="4800" b="1">
                <a:solidFill>
                  <a:srgbClr val="193B2B"/>
                </a:solidFill>
                <a:latin typeface="Liberation Sans"/>
                <a:ea typeface="Liberation Sans"/>
                <a:cs typeface="Liberation Sans"/>
              </a:rPr>
              <a:t>AgroChain</a:t>
            </a:r>
          </a:p>
        </p:txBody>
      </p:sp>
      <p:sp>
        <p:nvSpPr>
          <p:cNvPr id="2" name="">
            <a:extLst xmlns:a="http://schemas.openxmlformats.org/drawingml/2006/main">
              <a:ext uri="{FF2B5EF4-FFF2-40B4-BE49-F238E27FC236}">
                <a16:creationId xmlns:a16="http://schemas.microsoft.com/office/drawing/2014/main" id="{7B3C7FD4-B029-4814-9ADE-B6270BF4FD43}"/>
              </a:ext>
            </a:extLst>
          </p:cNvPr>
          <p:cNvSpPr>
            <a:spLocks xmlns:a="http://schemas.openxmlformats.org/drawingml/2006/main" noGrp="1"/>
          </p:cNvSpPr>
          <p:nvPr/>
        </p:nvSpPr>
        <p:spPr>
          <a:xfrm xmlns:a="http://schemas.openxmlformats.org/drawingml/2006/main">
            <a:off x="619125" y="1428750"/>
            <a:ext cx="1090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93B2B"/>
                </a:solidFill>
                <a:latin typeface="Liberation Sans"/>
                <a:ea typeface="Liberation Sans"/>
                <a:cs typeface="Liberation Sans"/>
              </a:defRPr>
            </a:pPr>
            <a:r>
              <a:rPr sz="2250" b="0">
                <a:solidFill>
                  <a:srgbClr val="193B2B"/>
                </a:solidFill>
                <a:latin typeface="Liberation Sans"/>
                <a:ea typeface="Liberation Sans"/>
                <a:cs typeface="Liberation Sans"/>
              </a:rPr>
              <a:t>Tarımsal ürünün kaynağı ve fiyat yolculuğu</a:t>
            </a:r>
          </a:p>
        </p:txBody>
      </p:sp>
      <p:sp>
        <p:nvSpPr>
          <p:cNvPr id="3" name="">
            <a:extLst xmlns:a="http://schemas.openxmlformats.org/drawingml/2006/main">
              <a:ext uri="{FF2B5EF4-FFF2-40B4-BE49-F238E27FC236}">
                <a16:creationId xmlns:a16="http://schemas.microsoft.com/office/drawing/2014/main" id="{80B51F40-6978-41D7-AF6C-ABE035F0097D}"/>
              </a:ext>
            </a:extLst>
          </p:cNvPr>
          <p:cNvSpPr>
            <a:spLocks xmlns:a="http://schemas.openxmlformats.org/drawingml/2006/main" noGrp="1"/>
          </p:cNvSpPr>
          <p:nvPr/>
        </p:nvSpPr>
        <p:spPr>
          <a:xfrm xmlns:a="http://schemas.openxmlformats.org/drawingml/2006/main">
            <a:off x="619125" y="2524125"/>
            <a:ext cx="1071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93B2B"/>
                </a:solidFill>
                <a:latin typeface="Liberation Sans"/>
                <a:ea typeface="Liberation Sans"/>
                <a:cs typeface="Liberation Sans"/>
              </a:defRPr>
            </a:pPr>
            <a:r>
              <a:rPr sz="2400" b="1">
                <a:solidFill>
                  <a:srgbClr val="193B2B"/>
                </a:solidFill>
                <a:latin typeface="Liberation Sans"/>
                <a:ea typeface="Liberation Sans"/>
                <a:cs typeface="Liberation Sans"/>
              </a:rPr>
              <a:t>TEKNOFEST için Hyperledger Fabric yarışma pilotu</a:t>
            </a:r>
          </a:p>
        </p:txBody>
      </p:sp>
      <p:sp>
        <p:nvSpPr>
          <p:cNvPr id="4" name="">
            <a:extLst xmlns:a="http://schemas.openxmlformats.org/drawingml/2006/main">
              <a:ext uri="{FF2B5EF4-FFF2-40B4-BE49-F238E27FC236}">
                <a16:creationId xmlns:a16="http://schemas.microsoft.com/office/drawing/2014/main" id="{F8450806-8405-4FB3-A640-F223AA142A97}"/>
              </a:ext>
            </a:extLst>
          </p:cNvPr>
          <p:cNvSpPr>
            <a:spLocks xmlns:a="http://schemas.openxmlformats.org/drawingml/2006/main" noGrp="1"/>
          </p:cNvSpPr>
          <p:nvPr/>
        </p:nvSpPr>
        <p:spPr>
          <a:xfrm xmlns:a="http://schemas.openxmlformats.org/drawingml/2006/main">
            <a:off x="619125" y="3524250"/>
            <a:ext cx="1071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93B2B"/>
                </a:solidFill>
                <a:latin typeface="Liberation Sans"/>
                <a:ea typeface="Liberation Sans"/>
                <a:cs typeface="Liberation Sans"/>
              </a:defRPr>
            </a:pPr>
            <a:r>
              <a:rPr sz="2400" b="0">
                <a:solidFill>
                  <a:srgbClr val="193B2B"/>
                </a:solidFill>
                <a:latin typeface="Liberation Sans"/>
                <a:ea typeface="Liberation Sans"/>
                <a:cs typeface="Liberation Sans"/>
              </a:rPr>
              <a:t>Gerçek yerel blokzincir işlemleri. Açıkça etiketlenmiş kurum simülasyonları.</a:t>
            </a:r>
          </a:p>
        </p:txBody>
      </p:sp>
      <p:sp>
        <p:nvSpPr>
          <p:cNvPr id="5" name="">
            <a:extLst xmlns:a="http://schemas.openxmlformats.org/drawingml/2006/main">
              <a:ext uri="{FF2B5EF4-FFF2-40B4-BE49-F238E27FC236}">
                <a16:creationId xmlns:a16="http://schemas.microsoft.com/office/drawing/2014/main" id="{EC874EF7-BE68-4443-8626-78A20CFE74EA}"/>
              </a:ext>
            </a:extLst>
          </p:cNvPr>
          <p:cNvSpPr>
            <a:spLocks xmlns:a="http://schemas.openxmlformats.org/drawingml/2006/main" noGrp="1"/>
          </p:cNvSpPr>
          <p:nvPr/>
        </p:nvSpPr>
        <p:spPr>
          <a:xfrm xmlns:a="http://schemas.openxmlformats.org/drawingml/2006/main">
            <a:off x="11334750" y="65151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93B2B"/>
                </a:solidFill>
                <a:latin typeface="Liberation Sans"/>
                <a:ea typeface="Liberation Sans"/>
                <a:cs typeface="Liberation Sans"/>
              </a:defRPr>
            </a:pPr>
            <a:r>
              <a:rPr sz="1350" b="0">
                <a:solidFill>
                  <a:srgbClr val="193B2B"/>
                </a:solidFill>
                <a:latin typeface="Liberation Sans"/>
                <a:ea typeface="Liberation Sans"/>
                <a:cs typeface="Liberation Sans"/>
              </a:rPr>
              <a:t>01</a:t>
            </a:r>
          </a:p>
        </p:txBody>
      </p:sp>
    </p:spTree>
    <p:extLst>
      <p:ext uri="{BB962C8B-B14F-4D97-AF65-F5344CB8AC3E}">
        <p14:creationId xmlns:p14="http://schemas.microsoft.com/office/powerpoint/2010/main" val="927582058"/>
      </p:ext>
    </p:extLst>
  </p:cSld>
</p:sld>
</file>

<file path=ppt/slides/slide2.xml><?xml version="1.0" encoding="utf-8"?>
<p:sld xmlns:p="http://schemas.openxmlformats.org/presentationml/2006/main">
  <p:cSld>
    <p:bg>
      <p:bgPr>
        <a:solidFill xmlns:a="http://schemas.openxmlformats.org/drawingml/2006/main">
          <a:srgbClr val="F4F4E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BA43B29-CEC6-4756-9DEB-A355B89EB02B}"/>
              </a:ext>
            </a:extLst>
          </p:cNvPr>
          <p:cNvSpPr>
            <a:spLocks xmlns:a="http://schemas.openxmlformats.org/drawingml/2006/main" noGrp="1"/>
          </p:cNvSpPr>
          <p:nvPr/>
        </p:nvSpPr>
        <p:spPr>
          <a:xfrm xmlns:a="http://schemas.openxmlformats.org/drawingml/2006/main">
            <a:off x="619125" y="428625"/>
            <a:ext cx="10906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93B2B"/>
                </a:solidFill>
                <a:latin typeface="Liberation Sans"/>
                <a:ea typeface="Liberation Sans"/>
                <a:cs typeface="Liberation Sans"/>
              </a:defRPr>
            </a:pPr>
            <a:r>
              <a:rPr sz="3450" b="1">
                <a:solidFill>
                  <a:srgbClr val="193B2B"/>
                </a:solidFill>
                <a:latin typeface="Liberation Sans"/>
                <a:ea typeface="Liberation Sans"/>
                <a:cs typeface="Liberation Sans"/>
              </a:rPr>
              <a:t>İzlenebilirlikte kanıt ihtiyacı</a:t>
            </a:r>
          </a:p>
        </p:txBody>
      </p:sp>
      <p:sp>
        <p:nvSpPr>
          <p:cNvPr id="2" name="">
            <a:extLst xmlns:a="http://schemas.openxmlformats.org/drawingml/2006/main">
              <a:ext uri="{FF2B5EF4-FFF2-40B4-BE49-F238E27FC236}">
                <a16:creationId xmlns:a16="http://schemas.microsoft.com/office/drawing/2014/main" id="{D07837FB-5164-4EB5-9D15-95682194ACC6}"/>
              </a:ext>
            </a:extLst>
          </p:cNvPr>
          <p:cNvSpPr>
            <a:spLocks xmlns:a="http://schemas.openxmlformats.org/drawingml/2006/main" noGrp="1"/>
          </p:cNvSpPr>
          <p:nvPr/>
        </p:nvSpPr>
        <p:spPr>
          <a:xfrm xmlns:a="http://schemas.openxmlformats.org/drawingml/2006/main">
            <a:off x="619125" y="1428750"/>
            <a:ext cx="1090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93B2B"/>
                </a:solidFill>
                <a:latin typeface="Liberation Sans"/>
                <a:ea typeface="Liberation Sans"/>
                <a:cs typeface="Liberation Sans"/>
              </a:defRPr>
            </a:pPr>
            <a:r>
              <a:rPr sz="2250" b="0">
                <a:solidFill>
                  <a:srgbClr val="193B2B"/>
                </a:solidFill>
                <a:latin typeface="Liberation Sans"/>
                <a:ea typeface="Liberation Sans"/>
                <a:cs typeface="Liberation Sans"/>
              </a:rPr>
              <a:t>Bir ürün partisi için ortak ve denetlenebilir kayıt</a:t>
            </a:r>
          </a:p>
        </p:txBody>
      </p:sp>
      <p:sp>
        <p:nvSpPr>
          <p:cNvPr id="3" name="">
            <a:extLst xmlns:a="http://schemas.openxmlformats.org/drawingml/2006/main">
              <a:ext uri="{FF2B5EF4-FFF2-40B4-BE49-F238E27FC236}">
                <a16:creationId xmlns:a16="http://schemas.microsoft.com/office/drawing/2014/main" id="{30CDC460-BB02-4372-AAE4-5388FAC936FF}"/>
              </a:ext>
            </a:extLst>
          </p:cNvPr>
          <p:cNvSpPr>
            <a:spLocks xmlns:a="http://schemas.openxmlformats.org/drawingml/2006/main" noGrp="1"/>
          </p:cNvSpPr>
          <p:nvPr/>
        </p:nvSpPr>
        <p:spPr>
          <a:xfrm xmlns:a="http://schemas.openxmlformats.org/drawingml/2006/main">
            <a:off x="619125" y="2524125"/>
            <a:ext cx="1071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93B2B"/>
                </a:solidFill>
                <a:latin typeface="Liberation Sans"/>
                <a:ea typeface="Liberation Sans"/>
                <a:cs typeface="Liberation Sans"/>
              </a:defRPr>
            </a:pPr>
            <a:r>
              <a:rPr sz="2400" b="0">
                <a:solidFill>
                  <a:srgbClr val="193B2B"/>
                </a:solidFill>
                <a:latin typeface="Liberation Sans"/>
                <a:ea typeface="Liberation Sans"/>
                <a:cs typeface="Liberation Sans"/>
              </a:rPr>
              <a:t>Hangi kuruluş teslim etti, hangisi kabul etti?</a:t>
            </a:r>
          </a:p>
        </p:txBody>
      </p:sp>
      <p:sp>
        <p:nvSpPr>
          <p:cNvPr id="4" name="">
            <a:extLst xmlns:a="http://schemas.openxmlformats.org/drawingml/2006/main">
              <a:ext uri="{FF2B5EF4-FFF2-40B4-BE49-F238E27FC236}">
                <a16:creationId xmlns:a16="http://schemas.microsoft.com/office/drawing/2014/main" id="{6690E820-2FBE-48E1-A01A-A7300B1F3C7C}"/>
              </a:ext>
            </a:extLst>
          </p:cNvPr>
          <p:cNvSpPr>
            <a:spLocks xmlns:a="http://schemas.openxmlformats.org/drawingml/2006/main" noGrp="1"/>
          </p:cNvSpPr>
          <p:nvPr/>
        </p:nvSpPr>
        <p:spPr>
          <a:xfrm xmlns:a="http://schemas.openxmlformats.org/drawingml/2006/main">
            <a:off x="619125" y="3524250"/>
            <a:ext cx="1071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93B2B"/>
                </a:solidFill>
                <a:latin typeface="Liberation Sans"/>
                <a:ea typeface="Liberation Sans"/>
                <a:cs typeface="Liberation Sans"/>
              </a:defRPr>
            </a:pPr>
            <a:r>
              <a:rPr sz="2400" b="0">
                <a:solidFill>
                  <a:srgbClr val="193B2B"/>
                </a:solidFill>
                <a:latin typeface="Liberation Sans"/>
                <a:ea typeface="Liberation Sans"/>
                <a:cs typeface="Liberation Sans"/>
              </a:rPr>
              <a:t>Belge sonradan değişti mi?</a:t>
            </a:r>
          </a:p>
        </p:txBody>
      </p:sp>
      <p:sp>
        <p:nvSpPr>
          <p:cNvPr id="5" name="">
            <a:extLst xmlns:a="http://schemas.openxmlformats.org/drawingml/2006/main">
              <a:ext uri="{FF2B5EF4-FFF2-40B4-BE49-F238E27FC236}">
                <a16:creationId xmlns:a16="http://schemas.microsoft.com/office/drawing/2014/main" id="{57A4FED2-FEE6-4F6C-B640-44E02D284FF6}"/>
              </a:ext>
            </a:extLst>
          </p:cNvPr>
          <p:cNvSpPr>
            <a:spLocks xmlns:a="http://schemas.openxmlformats.org/drawingml/2006/main" noGrp="1"/>
          </p:cNvSpPr>
          <p:nvPr/>
        </p:nvSpPr>
        <p:spPr>
          <a:xfrm xmlns:a="http://schemas.openxmlformats.org/drawingml/2006/main">
            <a:off x="619125" y="4524375"/>
            <a:ext cx="1071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93B2B"/>
                </a:solidFill>
                <a:latin typeface="Liberation Sans"/>
                <a:ea typeface="Liberation Sans"/>
                <a:cs typeface="Liberation Sans"/>
              </a:defRPr>
            </a:pPr>
            <a:r>
              <a:rPr sz="2400" b="0">
                <a:solidFill>
                  <a:srgbClr val="193B2B"/>
                </a:solidFill>
                <a:latin typeface="Liberation Sans"/>
                <a:ea typeface="Liberation Sans"/>
                <a:cs typeface="Liberation Sans"/>
              </a:rPr>
              <a:t>Fiyat artışı hangi girdiler ve eşikle değerlendirildi?</a:t>
            </a:r>
          </a:p>
        </p:txBody>
      </p:sp>
      <p:sp>
        <p:nvSpPr>
          <p:cNvPr id="6" name="">
            <a:extLst xmlns:a="http://schemas.openxmlformats.org/drawingml/2006/main">
              <a:ext uri="{FF2B5EF4-FFF2-40B4-BE49-F238E27FC236}">
                <a16:creationId xmlns:a16="http://schemas.microsoft.com/office/drawing/2014/main" id="{4359A788-AFAE-4DAE-9300-005788C6080A}"/>
              </a:ext>
            </a:extLst>
          </p:cNvPr>
          <p:cNvSpPr>
            <a:spLocks xmlns:a="http://schemas.openxmlformats.org/drawingml/2006/main" noGrp="1"/>
          </p:cNvSpPr>
          <p:nvPr/>
        </p:nvSpPr>
        <p:spPr>
          <a:xfrm xmlns:a="http://schemas.openxmlformats.org/drawingml/2006/main">
            <a:off x="11334750" y="65151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93B2B"/>
                </a:solidFill>
                <a:latin typeface="Liberation Sans"/>
                <a:ea typeface="Liberation Sans"/>
                <a:cs typeface="Liberation Sans"/>
              </a:defRPr>
            </a:pPr>
            <a:r>
              <a:rPr sz="1350" b="0">
                <a:solidFill>
                  <a:srgbClr val="193B2B"/>
                </a:solidFill>
                <a:latin typeface="Liberation Sans"/>
                <a:ea typeface="Liberation Sans"/>
                <a:cs typeface="Liberation Sans"/>
              </a:rPr>
              <a:t>02</a:t>
            </a:r>
          </a:p>
        </p:txBody>
      </p:sp>
    </p:spTree>
    <p:extLst>
      <p:ext uri="{BB962C8B-B14F-4D97-AF65-F5344CB8AC3E}">
        <p14:creationId xmlns:p14="http://schemas.microsoft.com/office/powerpoint/2010/main" val="870295582"/>
      </p:ext>
    </p:extLst>
  </p:cSld>
</p:sld>
</file>

<file path=ppt/slides/slide3.xml><?xml version="1.0" encoding="utf-8"?>
<p:sld xmlns:p="http://schemas.openxmlformats.org/presentationml/2006/main">
  <p:cSld>
    <p:bg>
      <p:bgPr>
        <a:solidFill xmlns:a="http://schemas.openxmlformats.org/drawingml/2006/main">
          <a:srgbClr val="F4F4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1594F3-9006-4370-B326-1202C7752D46}"/>
              </a:ext>
            </a:extLst>
          </p:cNvPr>
          <p:cNvSpPr>
            <a:spLocks xmlns:a="http://schemas.openxmlformats.org/drawingml/2006/main" noGrp="1"/>
          </p:cNvSpPr>
          <p:nvPr/>
        </p:nvSpPr>
        <p:spPr>
          <a:xfrm xmlns:a="http://schemas.openxmlformats.org/drawingml/2006/main">
            <a:off x="619125" y="428625"/>
            <a:ext cx="10906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93B2B"/>
                </a:solidFill>
                <a:latin typeface="Liberation Sans"/>
                <a:ea typeface="Liberation Sans"/>
                <a:cs typeface="Liberation Sans"/>
              </a:defRPr>
            </a:pPr>
            <a:r>
              <a:rPr sz="3450" b="1">
                <a:solidFill>
                  <a:srgbClr val="193B2B"/>
                </a:solidFill>
                <a:latin typeface="Liberation Sans"/>
                <a:ea typeface="Liberation Sans"/>
                <a:cs typeface="Liberation Sans"/>
              </a:rPr>
              <a:t>Üreticiden perakendeciye</a:t>
            </a:r>
          </a:p>
        </p:txBody>
      </p:sp>
      <p:sp>
        <p:nvSpPr>
          <p:cNvPr id="2" name="">
            <a:extLst xmlns:a="http://schemas.openxmlformats.org/drawingml/2006/main">
              <a:ext uri="{FF2B5EF4-FFF2-40B4-BE49-F238E27FC236}">
                <a16:creationId xmlns:a16="http://schemas.microsoft.com/office/drawing/2014/main" id="{DCF8262C-6632-4911-83F6-07C05944E64E}"/>
              </a:ext>
            </a:extLst>
          </p:cNvPr>
          <p:cNvSpPr>
            <a:spLocks xmlns:a="http://schemas.openxmlformats.org/drawingml/2006/main" noGrp="1"/>
          </p:cNvSpPr>
          <p:nvPr/>
        </p:nvSpPr>
        <p:spPr>
          <a:xfrm xmlns:a="http://schemas.openxmlformats.org/drawingml/2006/main">
            <a:off x="619125" y="1428750"/>
            <a:ext cx="1090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93B2B"/>
                </a:solidFill>
                <a:latin typeface="Liberation Sans"/>
                <a:ea typeface="Liberation Sans"/>
                <a:cs typeface="Liberation Sans"/>
              </a:defRPr>
            </a:pPr>
            <a:r>
              <a:rPr sz="2250" b="0">
                <a:solidFill>
                  <a:srgbClr val="193B2B"/>
                </a:solidFill>
                <a:latin typeface="Liberation Sans"/>
                <a:ea typeface="Liberation Sans"/>
                <a:cs typeface="Liberation Sans"/>
              </a:rPr>
              <a:t>Her teslim iki taraflı kabul gerektirir</a:t>
            </a:r>
          </a:p>
        </p:txBody>
      </p:sp>
      <p:sp>
        <p:nvSpPr>
          <p:cNvPr id="3" name="">
            <a:extLst xmlns:a="http://schemas.openxmlformats.org/drawingml/2006/main">
              <a:ext uri="{FF2B5EF4-FFF2-40B4-BE49-F238E27FC236}">
                <a16:creationId xmlns:a16="http://schemas.microsoft.com/office/drawing/2014/main" id="{6DF87C12-8499-4068-9C59-DFBCE1A0FF3B}"/>
              </a:ext>
            </a:extLst>
          </p:cNvPr>
          <p:cNvSpPr>
            <a:spLocks xmlns:a="http://schemas.openxmlformats.org/drawingml/2006/main" noGrp="1"/>
          </p:cNvSpPr>
          <p:nvPr/>
        </p:nvSpPr>
        <p:spPr>
          <a:xfrm xmlns:a="http://schemas.openxmlformats.org/drawingml/2006/main">
            <a:off x="619125" y="2524125"/>
            <a:ext cx="1071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93B2B"/>
                </a:solidFill>
                <a:latin typeface="Liberation Sans"/>
                <a:ea typeface="Liberation Sans"/>
                <a:cs typeface="Liberation Sans"/>
              </a:defRPr>
            </a:pPr>
            <a:r>
              <a:rPr sz="2400" b="0">
                <a:solidFill>
                  <a:srgbClr val="193B2B"/>
                </a:solidFill>
                <a:latin typeface="Liberation Sans"/>
                <a:ea typeface="Liberation Sans"/>
                <a:cs typeface="Liberation Sans"/>
              </a:rPr>
              <a:t>Üretici parti oluşturur ve teslim teklif eder.</a:t>
            </a:r>
          </a:p>
        </p:txBody>
      </p:sp>
      <p:sp>
        <p:nvSpPr>
          <p:cNvPr id="4" name="">
            <a:extLst xmlns:a="http://schemas.openxmlformats.org/drawingml/2006/main">
              <a:ext uri="{FF2B5EF4-FFF2-40B4-BE49-F238E27FC236}">
                <a16:creationId xmlns:a16="http://schemas.microsoft.com/office/drawing/2014/main" id="{005AA558-DC53-40BA-BBD8-7D10F199AFCD}"/>
              </a:ext>
            </a:extLst>
          </p:cNvPr>
          <p:cNvSpPr>
            <a:spLocks xmlns:a="http://schemas.openxmlformats.org/drawingml/2006/main" noGrp="1"/>
          </p:cNvSpPr>
          <p:nvPr/>
        </p:nvSpPr>
        <p:spPr>
          <a:xfrm xmlns:a="http://schemas.openxmlformats.org/drawingml/2006/main">
            <a:off x="619125" y="3524250"/>
            <a:ext cx="1071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93B2B"/>
                </a:solidFill>
                <a:latin typeface="Liberation Sans"/>
                <a:ea typeface="Liberation Sans"/>
                <a:cs typeface="Liberation Sans"/>
              </a:defRPr>
            </a:pPr>
            <a:r>
              <a:rPr sz="2400" b="0">
                <a:solidFill>
                  <a:srgbClr val="193B2B"/>
                </a:solidFill>
                <a:latin typeface="Liberation Sans"/>
                <a:ea typeface="Liberation Sans"/>
                <a:cs typeface="Liberation Sans"/>
              </a:rPr>
              <a:t>Taşıyıcı kabul eder, nakliyeyi kaydeder ve mağazaya teklif eder.</a:t>
            </a:r>
          </a:p>
        </p:txBody>
      </p:sp>
      <p:sp>
        <p:nvSpPr>
          <p:cNvPr id="5" name="">
            <a:extLst xmlns:a="http://schemas.openxmlformats.org/drawingml/2006/main">
              <a:ext uri="{FF2B5EF4-FFF2-40B4-BE49-F238E27FC236}">
                <a16:creationId xmlns:a16="http://schemas.microsoft.com/office/drawing/2014/main" id="{263A42F7-1AD5-4B1B-BCF9-0509FA70B055}"/>
              </a:ext>
            </a:extLst>
          </p:cNvPr>
          <p:cNvSpPr>
            <a:spLocks xmlns:a="http://schemas.openxmlformats.org/drawingml/2006/main" noGrp="1"/>
          </p:cNvSpPr>
          <p:nvPr/>
        </p:nvSpPr>
        <p:spPr>
          <a:xfrm xmlns:a="http://schemas.openxmlformats.org/drawingml/2006/main">
            <a:off x="619125" y="4524375"/>
            <a:ext cx="1071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93B2B"/>
                </a:solidFill>
                <a:latin typeface="Liberation Sans"/>
                <a:ea typeface="Liberation Sans"/>
                <a:cs typeface="Liberation Sans"/>
              </a:defRPr>
            </a:pPr>
            <a:r>
              <a:rPr sz="2400" b="0">
                <a:solidFill>
                  <a:srgbClr val="193B2B"/>
                </a:solidFill>
                <a:latin typeface="Liberation Sans"/>
                <a:ea typeface="Liberation Sans"/>
                <a:cs typeface="Liberation Sans"/>
              </a:rPr>
              <a:t>Perakendeci kabul eder ve raf teklif fiyatını bildirir.</a:t>
            </a:r>
          </a:p>
        </p:txBody>
      </p:sp>
      <p:sp>
        <p:nvSpPr>
          <p:cNvPr id="6" name="">
            <a:extLst xmlns:a="http://schemas.openxmlformats.org/drawingml/2006/main">
              <a:ext uri="{FF2B5EF4-FFF2-40B4-BE49-F238E27FC236}">
                <a16:creationId xmlns:a16="http://schemas.microsoft.com/office/drawing/2014/main" id="{7E0D1430-39C9-4019-93B7-3F63D4C4C04B}"/>
              </a:ext>
            </a:extLst>
          </p:cNvPr>
          <p:cNvSpPr>
            <a:spLocks xmlns:a="http://schemas.openxmlformats.org/drawingml/2006/main" noGrp="1"/>
          </p:cNvSpPr>
          <p:nvPr/>
        </p:nvSpPr>
        <p:spPr>
          <a:xfrm xmlns:a="http://schemas.openxmlformats.org/drawingml/2006/main">
            <a:off x="619125" y="6000750"/>
            <a:ext cx="1090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06352"/>
                </a:solidFill>
                <a:latin typeface="Liberation Sans"/>
                <a:ea typeface="Liberation Sans"/>
                <a:cs typeface="Liberation Sans"/>
              </a:defRPr>
            </a:pPr>
            <a:r>
              <a:rPr sz="1575" b="0">
                <a:solidFill>
                  <a:srgbClr val="506352"/>
                </a:solidFill>
                <a:latin typeface="Liberation Sans"/>
                <a:ea typeface="Liberation Sans"/>
                <a:cs typeface="Liberation Sans"/>
              </a:rPr>
              <a:t>100 kg standart domates, Antalya. Raf teklifi gerçekleşmiş satış anlamına gelmez.</a:t>
            </a:r>
          </a:p>
        </p:txBody>
      </p:sp>
      <p:sp>
        <p:nvSpPr>
          <p:cNvPr id="7" name="">
            <a:extLst xmlns:a="http://schemas.openxmlformats.org/drawingml/2006/main">
              <a:ext uri="{FF2B5EF4-FFF2-40B4-BE49-F238E27FC236}">
                <a16:creationId xmlns:a16="http://schemas.microsoft.com/office/drawing/2014/main" id="{85597F80-2F36-4491-956D-A45638BDF531}"/>
              </a:ext>
            </a:extLst>
          </p:cNvPr>
          <p:cNvSpPr>
            <a:spLocks xmlns:a="http://schemas.openxmlformats.org/drawingml/2006/main" noGrp="1"/>
          </p:cNvSpPr>
          <p:nvPr/>
        </p:nvSpPr>
        <p:spPr>
          <a:xfrm xmlns:a="http://schemas.openxmlformats.org/drawingml/2006/main">
            <a:off x="11334750" y="65151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93B2B"/>
                </a:solidFill>
                <a:latin typeface="Liberation Sans"/>
                <a:ea typeface="Liberation Sans"/>
                <a:cs typeface="Liberation Sans"/>
              </a:defRPr>
            </a:pPr>
            <a:r>
              <a:rPr sz="1350" b="0">
                <a:solidFill>
                  <a:srgbClr val="193B2B"/>
                </a:solidFill>
                <a:latin typeface="Liberation Sans"/>
                <a:ea typeface="Liberation Sans"/>
                <a:cs typeface="Liberation Sans"/>
              </a:rPr>
              <a:t>03</a:t>
            </a:r>
          </a:p>
        </p:txBody>
      </p:sp>
    </p:spTree>
    <p:extLst>
      <p:ext uri="{BB962C8B-B14F-4D97-AF65-F5344CB8AC3E}">
        <p14:creationId xmlns:p14="http://schemas.microsoft.com/office/powerpoint/2010/main" val="3735049"/>
      </p:ext>
    </p:extLst>
  </p:cSld>
</p:sld>
</file>

<file path=ppt/slides/slide4.xml><?xml version="1.0" encoding="utf-8"?>
<p:sld xmlns:p="http://schemas.openxmlformats.org/presentationml/2006/main">
  <p:cSld>
    <p:bg>
      <p:bgPr>
        <a:solidFill xmlns:a="http://schemas.openxmlformats.org/drawingml/2006/main">
          <a:srgbClr val="F4F4E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BB12A16-0E0B-4F8C-BD70-0A6EAB592805}"/>
              </a:ext>
            </a:extLst>
          </p:cNvPr>
          <p:cNvSpPr>
            <a:spLocks xmlns:a="http://schemas.openxmlformats.org/drawingml/2006/main" noGrp="1"/>
          </p:cNvSpPr>
          <p:nvPr/>
        </p:nvSpPr>
        <p:spPr>
          <a:xfrm xmlns:a="http://schemas.openxmlformats.org/drawingml/2006/main">
            <a:off x="619125" y="428625"/>
            <a:ext cx="10906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93B2B"/>
                </a:solidFill>
                <a:latin typeface="Liberation Sans"/>
                <a:ea typeface="Liberation Sans"/>
                <a:cs typeface="Liberation Sans"/>
              </a:defRPr>
            </a:pPr>
            <a:r>
              <a:rPr sz="3450" b="1">
                <a:solidFill>
                  <a:srgbClr val="193B2B"/>
                </a:solidFill>
                <a:latin typeface="Liberation Sans"/>
                <a:ea typeface="Liberation Sans"/>
                <a:cs typeface="Liberation Sans"/>
              </a:rPr>
              <a:t>Sistem mimarisi</a:t>
            </a:r>
          </a:p>
        </p:txBody>
      </p:sp>
      <p:sp>
        <p:nvSpPr>
          <p:cNvPr id="2" name="">
            <a:extLst xmlns:a="http://schemas.openxmlformats.org/drawingml/2006/main">
              <a:ext uri="{FF2B5EF4-FFF2-40B4-BE49-F238E27FC236}">
                <a16:creationId xmlns:a16="http://schemas.microsoft.com/office/drawing/2014/main" id="{AE047DD0-00E3-4303-BA96-E18A5A90117C}"/>
              </a:ext>
            </a:extLst>
          </p:cNvPr>
          <p:cNvSpPr>
            <a:spLocks xmlns:a="http://schemas.openxmlformats.org/drawingml/2006/main" noGrp="1"/>
          </p:cNvSpPr>
          <p:nvPr/>
        </p:nvSpPr>
        <p:spPr>
          <a:xfrm xmlns:a="http://schemas.openxmlformats.org/drawingml/2006/main">
            <a:off x="619125" y="1428750"/>
            <a:ext cx="1090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93B2B"/>
                </a:solidFill>
                <a:latin typeface="Liberation Sans"/>
                <a:ea typeface="Liberation Sans"/>
                <a:cs typeface="Liberation Sans"/>
              </a:defRPr>
            </a:pPr>
            <a:r>
              <a:rPr sz="2250" b="0">
                <a:solidFill>
                  <a:srgbClr val="193B2B"/>
                </a:solidFill>
                <a:latin typeface="Liberation Sans"/>
                <a:ea typeface="Liberation Sans"/>
                <a:cs typeface="Liberation Sans"/>
              </a:rPr>
              <a:t>Kurum verisini backend doğrular, zincir kuralları yeniden denetler</a:t>
            </a:r>
          </a:p>
        </p:txBody>
      </p:sp>
      <p:sp>
        <p:nvSpPr>
          <p:cNvPr id="3" name="">
            <a:extLst xmlns:a="http://schemas.openxmlformats.org/drawingml/2006/main">
              <a:ext uri="{FF2B5EF4-FFF2-40B4-BE49-F238E27FC236}">
                <a16:creationId xmlns:a16="http://schemas.microsoft.com/office/drawing/2014/main" id="{E45C2627-592F-4386-A7F6-06CCDD661A93}"/>
              </a:ext>
            </a:extLst>
          </p:cNvPr>
          <p:cNvSpPr>
            <a:spLocks xmlns:a="http://schemas.openxmlformats.org/drawingml/2006/main" noGrp="1"/>
          </p:cNvSpPr>
          <p:nvPr/>
        </p:nvSpPr>
        <p:spPr>
          <a:xfrm xmlns:a="http://schemas.openxmlformats.org/drawingml/2006/main">
            <a:off x="619125" y="2476500"/>
            <a:ext cx="4572000" cy="619125"/>
          </a:xfrm>
          <a:prstGeom xmlns:a="http://schemas.openxmlformats.org/drawingml/2006/main" prst="rect">
            <a:avLst/>
          </a:prstGeom>
          <a:solidFill xmlns:a="http://schemas.openxmlformats.org/drawingml/2006/main">
            <a:srgbClr val="E5EADA"/>
          </a:solidFill>
          <a:ln xmlns:a="http://schemas.openxmlformats.org/drawingml/2006/main" w="9525">
            <a:solidFill>
              <a:srgbClr val="23543B"/>
            </a:solidFill>
          </a:ln>
        </p:spPr>
        <p:txBody>
          <a:bodyPr xmlns:a="http://schemas.openxmlformats.org/drawingml/2006/main">
            <a:noAutofit/>
          </a:bodyPr>
          <a:lstStyle xmlns:a="http://schemas.openxmlformats.org/drawingml/2006/main"/>
          <a:p xmlns:a="http://schemas.openxmlformats.org/drawingml/2006/main">
            <a:pPr>
              <a:defRPr sz="1800">
                <a:solidFill>
                  <a:srgbClr val="193B2B"/>
                </a:solidFill>
                <a:latin typeface="Liberation Sans"/>
                <a:ea typeface="Liberation Sans"/>
                <a:cs typeface="Liberation Sans"/>
              </a:defRPr>
            </a:pPr>
            <a:r>
              <a:rPr sz="1800">
                <a:solidFill>
                  <a:srgbClr val="193B2B"/>
                </a:solidFill>
                <a:latin typeface="Liberation Sans"/>
                <a:ea typeface="Liberation Sans"/>
                <a:cs typeface="Liberation Sans"/>
              </a:rPr>
              <a:t>Aktör / denetçi arayüzü</a:t>
            </a:r>
          </a:p>
        </p:txBody>
      </p:sp>
      <p:sp>
        <p:nvSpPr>
          <p:cNvPr id="4" name="">
            <a:extLst xmlns:a="http://schemas.openxmlformats.org/drawingml/2006/main">
              <a:ext uri="{FF2B5EF4-FFF2-40B4-BE49-F238E27FC236}">
                <a16:creationId xmlns:a16="http://schemas.microsoft.com/office/drawing/2014/main" id="{1C6904F9-C730-4928-AA2A-53C3610C556F}"/>
              </a:ext>
            </a:extLst>
          </p:cNvPr>
          <p:cNvSpPr>
            <a:spLocks xmlns:a="http://schemas.openxmlformats.org/drawingml/2006/main" noGrp="1"/>
          </p:cNvSpPr>
          <p:nvPr/>
        </p:nvSpPr>
        <p:spPr>
          <a:xfrm xmlns:a="http://schemas.openxmlformats.org/drawingml/2006/main">
            <a:off x="619125" y="3333750"/>
            <a:ext cx="4572000" cy="619125"/>
          </a:xfrm>
          <a:prstGeom xmlns:a="http://schemas.openxmlformats.org/drawingml/2006/main" prst="rect">
            <a:avLst/>
          </a:prstGeom>
          <a:solidFill xmlns:a="http://schemas.openxmlformats.org/drawingml/2006/main">
            <a:srgbClr val="E5EADA"/>
          </a:solidFill>
          <a:ln xmlns:a="http://schemas.openxmlformats.org/drawingml/2006/main" w="9525">
            <a:solidFill>
              <a:srgbClr val="23543B"/>
            </a:solidFill>
          </a:ln>
        </p:spPr>
        <p:txBody>
          <a:bodyPr xmlns:a="http://schemas.openxmlformats.org/drawingml/2006/main">
            <a:noAutofit/>
          </a:bodyPr>
          <a:lstStyle xmlns:a="http://schemas.openxmlformats.org/drawingml/2006/main"/>
          <a:p xmlns:a="http://schemas.openxmlformats.org/drawingml/2006/main">
            <a:pPr>
              <a:defRPr sz="1800">
                <a:solidFill>
                  <a:srgbClr val="193B2B"/>
                </a:solidFill>
                <a:latin typeface="Liberation Sans"/>
                <a:ea typeface="Liberation Sans"/>
                <a:cs typeface="Liberation Sans"/>
              </a:defRPr>
            </a:pPr>
            <a:r>
              <a:rPr sz="1800">
                <a:solidFill>
                  <a:srgbClr val="193B2B"/>
                </a:solidFill>
                <a:latin typeface="Liberation Sans"/>
                <a:ea typeface="Liberation Sans"/>
                <a:cs typeface="Liberation Sans"/>
              </a:rPr>
              <a:t>Spring Boot API</a:t>
            </a:r>
          </a:p>
        </p:txBody>
      </p:sp>
      <p:sp>
        <p:nvSpPr>
          <p:cNvPr id="5" name="">
            <a:extLst xmlns:a="http://schemas.openxmlformats.org/drawingml/2006/main">
              <a:ext uri="{FF2B5EF4-FFF2-40B4-BE49-F238E27FC236}">
                <a16:creationId xmlns:a16="http://schemas.microsoft.com/office/drawing/2014/main" id="{69BC41E3-3DA3-479F-B5EF-0100E2D2F7A6}"/>
              </a:ext>
            </a:extLst>
          </p:cNvPr>
          <p:cNvSpPr>
            <a:spLocks xmlns:a="http://schemas.openxmlformats.org/drawingml/2006/main" noGrp="1"/>
          </p:cNvSpPr>
          <p:nvPr/>
        </p:nvSpPr>
        <p:spPr>
          <a:xfrm xmlns:a="http://schemas.openxmlformats.org/drawingml/2006/main">
            <a:off x="619125" y="4191000"/>
            <a:ext cx="4572000" cy="619125"/>
          </a:xfrm>
          <a:prstGeom xmlns:a="http://schemas.openxmlformats.org/drawingml/2006/main" prst="rect">
            <a:avLst/>
          </a:prstGeom>
          <a:solidFill xmlns:a="http://schemas.openxmlformats.org/drawingml/2006/main">
            <a:srgbClr val="E5EADA"/>
          </a:solidFill>
          <a:ln xmlns:a="http://schemas.openxmlformats.org/drawingml/2006/main" w="9525">
            <a:solidFill>
              <a:srgbClr val="23543B"/>
            </a:solidFill>
          </a:ln>
        </p:spPr>
        <p:txBody>
          <a:bodyPr xmlns:a="http://schemas.openxmlformats.org/drawingml/2006/main">
            <a:noAutofit/>
          </a:bodyPr>
          <a:lstStyle xmlns:a="http://schemas.openxmlformats.org/drawingml/2006/main"/>
          <a:p xmlns:a="http://schemas.openxmlformats.org/drawingml/2006/main">
            <a:pPr>
              <a:defRPr sz="1800">
                <a:solidFill>
                  <a:srgbClr val="193B2B"/>
                </a:solidFill>
                <a:latin typeface="Liberation Sans"/>
                <a:ea typeface="Liberation Sans"/>
                <a:cs typeface="Liberation Sans"/>
              </a:defRPr>
            </a:pPr>
            <a:r>
              <a:rPr sz="1800">
                <a:solidFill>
                  <a:srgbClr val="193B2B"/>
                </a:solidFill>
                <a:latin typeface="Liberation Sans"/>
                <a:ea typeface="Liberation Sans"/>
                <a:cs typeface="Liberation Sans"/>
              </a:rPr>
              <a:t>Fabric Gateway</a:t>
            </a:r>
          </a:p>
        </p:txBody>
      </p:sp>
      <p:sp>
        <p:nvSpPr>
          <p:cNvPr id="6" name="">
            <a:extLst xmlns:a="http://schemas.openxmlformats.org/drawingml/2006/main">
              <a:ext uri="{FF2B5EF4-FFF2-40B4-BE49-F238E27FC236}">
                <a16:creationId xmlns:a16="http://schemas.microsoft.com/office/drawing/2014/main" id="{463657E8-95F0-4904-9C75-CC8A2F194577}"/>
              </a:ext>
            </a:extLst>
          </p:cNvPr>
          <p:cNvSpPr>
            <a:spLocks xmlns:a="http://schemas.openxmlformats.org/drawingml/2006/main" noGrp="1"/>
          </p:cNvSpPr>
          <p:nvPr/>
        </p:nvSpPr>
        <p:spPr>
          <a:xfrm xmlns:a="http://schemas.openxmlformats.org/drawingml/2006/main">
            <a:off x="619125" y="5048250"/>
            <a:ext cx="4572000" cy="619125"/>
          </a:xfrm>
          <a:prstGeom xmlns:a="http://schemas.openxmlformats.org/drawingml/2006/main" prst="rect">
            <a:avLst/>
          </a:prstGeom>
          <a:solidFill xmlns:a="http://schemas.openxmlformats.org/drawingml/2006/main">
            <a:srgbClr val="E5EADA"/>
          </a:solidFill>
          <a:ln xmlns:a="http://schemas.openxmlformats.org/drawingml/2006/main" w="9525">
            <a:solidFill>
              <a:srgbClr val="23543B"/>
            </a:solidFill>
          </a:ln>
        </p:spPr>
        <p:txBody>
          <a:bodyPr xmlns:a="http://schemas.openxmlformats.org/drawingml/2006/main">
            <a:noAutofit/>
          </a:bodyPr>
          <a:lstStyle xmlns:a="http://schemas.openxmlformats.org/drawingml/2006/main"/>
          <a:p xmlns:a="http://schemas.openxmlformats.org/drawingml/2006/main">
            <a:pPr>
              <a:defRPr sz="1800">
                <a:solidFill>
                  <a:srgbClr val="193B2B"/>
                </a:solidFill>
                <a:latin typeface="Liberation Sans"/>
                <a:ea typeface="Liberation Sans"/>
                <a:cs typeface="Liberation Sans"/>
              </a:defRPr>
            </a:pPr>
            <a:r>
              <a:rPr sz="1800">
                <a:solidFill>
                  <a:srgbClr val="193B2B"/>
                </a:solidFill>
                <a:latin typeface="Liberation Sans"/>
                <a:ea typeface="Liberation Sans"/>
                <a:cs typeface="Liberation Sans"/>
              </a:rPr>
              <a:t>Go chaincode</a:t>
            </a:r>
          </a:p>
        </p:txBody>
      </p:sp>
      <p:sp>
        <p:nvSpPr>
          <p:cNvPr id="7" name="">
            <a:extLst xmlns:a="http://schemas.openxmlformats.org/drawingml/2006/main">
              <a:ext uri="{FF2B5EF4-FFF2-40B4-BE49-F238E27FC236}">
                <a16:creationId xmlns:a16="http://schemas.microsoft.com/office/drawing/2014/main" id="{C3BEEB4B-E0AB-4AC2-8844-A0624D534F45}"/>
              </a:ext>
            </a:extLst>
          </p:cNvPr>
          <p:cNvSpPr>
            <a:spLocks xmlns:a="http://schemas.openxmlformats.org/drawingml/2006/main" noGrp="1"/>
          </p:cNvSpPr>
          <p:nvPr/>
        </p:nvSpPr>
        <p:spPr>
          <a:xfrm xmlns:a="http://schemas.openxmlformats.org/drawingml/2006/main">
            <a:off x="6762750" y="3190875"/>
            <a:ext cx="4762500" cy="619125"/>
          </a:xfrm>
          <a:prstGeom xmlns:a="http://schemas.openxmlformats.org/drawingml/2006/main" prst="rect">
            <a:avLst/>
          </a:prstGeom>
          <a:solidFill xmlns:a="http://schemas.openxmlformats.org/drawingml/2006/main">
            <a:srgbClr val="E5EADA"/>
          </a:solidFill>
          <a:ln xmlns:a="http://schemas.openxmlformats.org/drawingml/2006/main" w="9525">
            <a:solidFill>
              <a:srgbClr val="23543B"/>
            </a:solidFill>
          </a:ln>
        </p:spPr>
        <p:txBody>
          <a:bodyPr xmlns:a="http://schemas.openxmlformats.org/drawingml/2006/main">
            <a:noAutofit/>
          </a:bodyPr>
          <a:lstStyle xmlns:a="http://schemas.openxmlformats.org/drawingml/2006/main"/>
          <a:p xmlns:a="http://schemas.openxmlformats.org/drawingml/2006/main">
            <a:pPr>
              <a:defRPr sz="1800">
                <a:solidFill>
                  <a:srgbClr val="193B2B"/>
                </a:solidFill>
                <a:latin typeface="Liberation Sans"/>
                <a:ea typeface="Liberation Sans"/>
                <a:cs typeface="Liberation Sans"/>
              </a:defRPr>
            </a:pPr>
            <a:r>
              <a:rPr sz="1800">
                <a:solidFill>
                  <a:srgbClr val="193B2B"/>
                </a:solidFill>
                <a:latin typeface="Liberation Sans"/>
                <a:ea typeface="Liberation Sans"/>
                <a:cs typeface="Liberation Sans"/>
              </a:rPr>
              <a:t>Kurum simülatörleri</a:t>
            </a:r>
          </a:p>
          <a:p xmlns:a="http://schemas.openxmlformats.org/drawingml/2006/main">
            <a:pPr>
              <a:defRPr sz="1800">
                <a:solidFill>
                  <a:srgbClr val="193B2B"/>
                </a:solidFill>
                <a:latin typeface="Liberation Sans"/>
                <a:ea typeface="Liberation Sans"/>
                <a:cs typeface="Liberation Sans"/>
              </a:defRPr>
            </a:pPr>
            <a:r>
              <a:rPr sz="1800">
                <a:solidFill>
                  <a:srgbClr val="193B2B"/>
                </a:solidFill>
                <a:latin typeface="Liberation Sans"/>
                <a:ea typeface="Liberation Sans"/>
                <a:cs typeface="Liberation Sans"/>
              </a:rPr>
              <a:t>SIMULATED</a:t>
            </a:r>
          </a:p>
        </p:txBody>
      </p:sp>
      <p:sp>
        <p:nvSpPr>
          <p:cNvPr id="8" name="">
            <a:extLst xmlns:a="http://schemas.openxmlformats.org/drawingml/2006/main">
              <a:ext uri="{FF2B5EF4-FFF2-40B4-BE49-F238E27FC236}">
                <a16:creationId xmlns:a16="http://schemas.microsoft.com/office/drawing/2014/main" id="{E416E16B-DE19-4A8F-8110-929B984A3D25}"/>
              </a:ext>
            </a:extLst>
          </p:cNvPr>
          <p:cNvSpPr>
            <a:spLocks xmlns:a="http://schemas.openxmlformats.org/drawingml/2006/main" noGrp="1"/>
          </p:cNvSpPr>
          <p:nvPr/>
        </p:nvSpPr>
        <p:spPr>
          <a:xfrm xmlns:a="http://schemas.openxmlformats.org/drawingml/2006/main">
            <a:off x="6762750" y="4191000"/>
            <a:ext cx="4762500" cy="619125"/>
          </a:xfrm>
          <a:prstGeom xmlns:a="http://schemas.openxmlformats.org/drawingml/2006/main" prst="rect">
            <a:avLst/>
          </a:prstGeom>
          <a:solidFill xmlns:a="http://schemas.openxmlformats.org/drawingml/2006/main">
            <a:srgbClr val="E5EADA"/>
          </a:solidFill>
          <a:ln xmlns:a="http://schemas.openxmlformats.org/drawingml/2006/main" w="9525">
            <a:solidFill>
              <a:srgbClr val="23543B"/>
            </a:solidFill>
          </a:ln>
        </p:spPr>
        <p:txBody>
          <a:bodyPr xmlns:a="http://schemas.openxmlformats.org/drawingml/2006/main">
            <a:noAutofit/>
          </a:bodyPr>
          <a:lstStyle xmlns:a="http://schemas.openxmlformats.org/drawingml/2006/main"/>
          <a:p xmlns:a="http://schemas.openxmlformats.org/drawingml/2006/main">
            <a:pPr>
              <a:defRPr sz="1800">
                <a:solidFill>
                  <a:srgbClr val="193B2B"/>
                </a:solidFill>
                <a:latin typeface="Liberation Sans"/>
                <a:ea typeface="Liberation Sans"/>
                <a:cs typeface="Liberation Sans"/>
              </a:defRPr>
            </a:pPr>
            <a:r>
              <a:rPr sz="1800">
                <a:solidFill>
                  <a:srgbClr val="193B2B"/>
                </a:solidFill>
                <a:latin typeface="Liberation Sans"/>
                <a:ea typeface="Liberation Sans"/>
                <a:cs typeface="Liberation Sans"/>
              </a:rPr>
              <a:t>Backend belge arşivi / günlük</a:t>
            </a:r>
          </a:p>
        </p:txBody>
      </p:sp>
      <p:sp>
        <p:nvSpPr>
          <p:cNvPr id="9" name="">
            <a:extLst xmlns:a="http://schemas.openxmlformats.org/drawingml/2006/main">
              <a:ext uri="{FF2B5EF4-FFF2-40B4-BE49-F238E27FC236}">
                <a16:creationId xmlns:a16="http://schemas.microsoft.com/office/drawing/2014/main" id="{DBFD4E9A-325A-4A47-B159-690ECF265597}"/>
              </a:ext>
            </a:extLst>
          </p:cNvPr>
          <p:cNvSpPr>
            <a:spLocks xmlns:a="http://schemas.openxmlformats.org/drawingml/2006/main" noGrp="1"/>
          </p:cNvSpPr>
          <p:nvPr/>
        </p:nvSpPr>
        <p:spPr>
          <a:xfrm xmlns:a="http://schemas.openxmlformats.org/drawingml/2006/main">
            <a:off x="6762750" y="5191125"/>
            <a:ext cx="4762500" cy="619125"/>
          </a:xfrm>
          <a:prstGeom xmlns:a="http://schemas.openxmlformats.org/drawingml/2006/main" prst="rect">
            <a:avLst/>
          </a:prstGeom>
          <a:solidFill xmlns:a="http://schemas.openxmlformats.org/drawingml/2006/main">
            <a:srgbClr val="E5EADA"/>
          </a:solidFill>
          <a:ln xmlns:a="http://schemas.openxmlformats.org/drawingml/2006/main" w="9525">
            <a:solidFill>
              <a:srgbClr val="23543B"/>
            </a:solidFill>
          </a:ln>
        </p:spPr>
        <p:txBody>
          <a:bodyPr xmlns:a="http://schemas.openxmlformats.org/drawingml/2006/main">
            <a:noAutofit/>
          </a:bodyPr>
          <a:lstStyle xmlns:a="http://schemas.openxmlformats.org/drawingml/2006/main"/>
          <a:p xmlns:a="http://schemas.openxmlformats.org/drawingml/2006/main">
            <a:pPr>
              <a:defRPr sz="1800">
                <a:solidFill>
                  <a:srgbClr val="193B2B"/>
                </a:solidFill>
                <a:latin typeface="Liberation Sans"/>
                <a:ea typeface="Liberation Sans"/>
                <a:cs typeface="Liberation Sans"/>
              </a:defRPr>
            </a:pPr>
            <a:r>
              <a:rPr sz="1800">
                <a:solidFill>
                  <a:srgbClr val="193B2B"/>
                </a:solidFill>
                <a:latin typeface="Liberation Sans"/>
                <a:ea typeface="Liberation Sans"/>
                <a:cs typeface="Liberation Sans"/>
              </a:rPr>
              <a:t>Ortak ledger / Özel koleksiyonlar</a:t>
            </a:r>
          </a:p>
        </p:txBody>
      </p:sp>
      <p:sp>
        <p:nvSpPr>
          <p:cNvPr id="10" name="">
            <a:extLst xmlns:a="http://schemas.openxmlformats.org/drawingml/2006/main">
              <a:ext uri="{FF2B5EF4-FFF2-40B4-BE49-F238E27FC236}">
                <a16:creationId xmlns:a16="http://schemas.microsoft.com/office/drawing/2014/main" id="{242527E6-2578-4DD3-886E-0C2689EEB0AC}"/>
              </a:ext>
            </a:extLst>
          </p:cNvPr>
          <p:cNvSpPr>
            <a:spLocks xmlns:a="http://schemas.openxmlformats.org/drawingml/2006/main" noGrp="1"/>
          </p:cNvSpPr>
          <p:nvPr/>
        </p:nvSpPr>
        <p:spPr>
          <a:xfrm xmlns:a="http://schemas.openxmlformats.org/drawingml/2006/main">
            <a:off x="2714625" y="30956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93B2B"/>
                </a:solidFill>
                <a:latin typeface="Liberation Sans"/>
                <a:ea typeface="Liberation Sans"/>
                <a:cs typeface="Liberation Sans"/>
              </a:defRPr>
            </a:pPr>
            <a:r>
              <a:rPr sz="1800" b="0">
                <a:solidFill>
                  <a:srgbClr val="193B2B"/>
                </a:solidFill>
                <a:latin typeface="Liberation Sans"/>
                <a:ea typeface="Liberation Sans"/>
                <a:cs typeface="Liberation Sans"/>
              </a:rPr>
              <a:t>↓</a:t>
            </a:r>
          </a:p>
        </p:txBody>
      </p:sp>
      <p:sp>
        <p:nvSpPr>
          <p:cNvPr id="11" name="">
            <a:extLst xmlns:a="http://schemas.openxmlformats.org/drawingml/2006/main">
              <a:ext uri="{FF2B5EF4-FFF2-40B4-BE49-F238E27FC236}">
                <a16:creationId xmlns:a16="http://schemas.microsoft.com/office/drawing/2014/main" id="{D8267311-C74E-40BC-BB1E-FE57EF033F19}"/>
              </a:ext>
            </a:extLst>
          </p:cNvPr>
          <p:cNvSpPr>
            <a:spLocks xmlns:a="http://schemas.openxmlformats.org/drawingml/2006/main" noGrp="1"/>
          </p:cNvSpPr>
          <p:nvPr/>
        </p:nvSpPr>
        <p:spPr>
          <a:xfrm xmlns:a="http://schemas.openxmlformats.org/drawingml/2006/main">
            <a:off x="2714625" y="39528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93B2B"/>
                </a:solidFill>
                <a:latin typeface="Liberation Sans"/>
                <a:ea typeface="Liberation Sans"/>
                <a:cs typeface="Liberation Sans"/>
              </a:defRPr>
            </a:pPr>
            <a:r>
              <a:rPr sz="1800" b="0">
                <a:solidFill>
                  <a:srgbClr val="193B2B"/>
                </a:solidFill>
                <a:latin typeface="Liberation Sans"/>
                <a:ea typeface="Liberation Sans"/>
                <a:cs typeface="Liberation Sans"/>
              </a:rPr>
              <a:t>↓</a:t>
            </a:r>
          </a:p>
        </p:txBody>
      </p:sp>
      <p:sp>
        <p:nvSpPr>
          <p:cNvPr id="12" name="">
            <a:extLst xmlns:a="http://schemas.openxmlformats.org/drawingml/2006/main">
              <a:ext uri="{FF2B5EF4-FFF2-40B4-BE49-F238E27FC236}">
                <a16:creationId xmlns:a16="http://schemas.microsoft.com/office/drawing/2014/main" id="{24F5559F-6E9B-4999-8EF2-97F860474886}"/>
              </a:ext>
            </a:extLst>
          </p:cNvPr>
          <p:cNvSpPr>
            <a:spLocks xmlns:a="http://schemas.openxmlformats.org/drawingml/2006/main" noGrp="1"/>
          </p:cNvSpPr>
          <p:nvPr/>
        </p:nvSpPr>
        <p:spPr>
          <a:xfrm xmlns:a="http://schemas.openxmlformats.org/drawingml/2006/main">
            <a:off x="2714625" y="48101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93B2B"/>
                </a:solidFill>
                <a:latin typeface="Liberation Sans"/>
                <a:ea typeface="Liberation Sans"/>
                <a:cs typeface="Liberation Sans"/>
              </a:defRPr>
            </a:pPr>
            <a:r>
              <a:rPr sz="1800" b="0">
                <a:solidFill>
                  <a:srgbClr val="193B2B"/>
                </a:solidFill>
                <a:latin typeface="Liberation Sans"/>
                <a:ea typeface="Liberation Sans"/>
                <a:cs typeface="Liberation Sans"/>
              </a:rPr>
              <a:t>↓</a:t>
            </a:r>
          </a:p>
        </p:txBody>
      </p:sp>
      <p:sp>
        <p:nvSpPr>
          <p:cNvPr id="13" name="">
            <a:extLst xmlns:a="http://schemas.openxmlformats.org/drawingml/2006/main">
              <a:ext uri="{FF2B5EF4-FFF2-40B4-BE49-F238E27FC236}">
                <a16:creationId xmlns:a16="http://schemas.microsoft.com/office/drawing/2014/main" id="{B13ED294-24A4-4B7C-A0B7-FFD67BC72022}"/>
              </a:ext>
            </a:extLst>
          </p:cNvPr>
          <p:cNvSpPr>
            <a:spLocks xmlns:a="http://schemas.openxmlformats.org/drawingml/2006/main" noGrp="1"/>
          </p:cNvSpPr>
          <p:nvPr/>
        </p:nvSpPr>
        <p:spPr>
          <a:xfrm xmlns:a="http://schemas.openxmlformats.org/drawingml/2006/main">
            <a:off x="5619750" y="344805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93B2B"/>
                </a:solidFill>
                <a:latin typeface="Liberation Sans"/>
                <a:ea typeface="Liberation Sans"/>
                <a:cs typeface="Liberation Sans"/>
              </a:defRPr>
            </a:pPr>
            <a:r>
              <a:rPr sz="2550" b="0">
                <a:solidFill>
                  <a:srgbClr val="193B2B"/>
                </a:solidFill>
                <a:latin typeface="Liberation Sans"/>
                <a:ea typeface="Liberation Sans"/>
                <a:cs typeface="Liberation Sans"/>
              </a:rPr>
              <a:t>↔</a:t>
            </a:r>
          </a:p>
        </p:txBody>
      </p:sp>
      <p:sp>
        <p:nvSpPr>
          <p:cNvPr id="14" name="">
            <a:extLst xmlns:a="http://schemas.openxmlformats.org/drawingml/2006/main">
              <a:ext uri="{FF2B5EF4-FFF2-40B4-BE49-F238E27FC236}">
                <a16:creationId xmlns:a16="http://schemas.microsoft.com/office/drawing/2014/main" id="{9EEFB1AE-30EF-4F9C-9A51-800935453F48}"/>
              </a:ext>
            </a:extLst>
          </p:cNvPr>
          <p:cNvSpPr>
            <a:spLocks xmlns:a="http://schemas.openxmlformats.org/drawingml/2006/main" noGrp="1"/>
          </p:cNvSpPr>
          <p:nvPr/>
        </p:nvSpPr>
        <p:spPr>
          <a:xfrm xmlns:a="http://schemas.openxmlformats.org/drawingml/2006/main">
            <a:off x="5619750" y="519112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93B2B"/>
                </a:solidFill>
                <a:latin typeface="Liberation Sans"/>
                <a:ea typeface="Liberation Sans"/>
                <a:cs typeface="Liberation Sans"/>
              </a:defRPr>
            </a:pPr>
            <a:r>
              <a:rPr sz="2550" b="0">
                <a:solidFill>
                  <a:srgbClr val="193B2B"/>
                </a:solidFill>
                <a:latin typeface="Liberation Sans"/>
                <a:ea typeface="Liberation Sans"/>
                <a:cs typeface="Liberation Sans"/>
              </a:rPr>
              <a:t>↔</a:t>
            </a:r>
          </a:p>
        </p:txBody>
      </p:sp>
      <p:sp>
        <p:nvSpPr>
          <p:cNvPr id="15" name="">
            <a:extLst xmlns:a="http://schemas.openxmlformats.org/drawingml/2006/main">
              <a:ext uri="{FF2B5EF4-FFF2-40B4-BE49-F238E27FC236}">
                <a16:creationId xmlns:a16="http://schemas.microsoft.com/office/drawing/2014/main" id="{91F2F4EC-9EB4-47E4-BDA3-096BABC71537}"/>
              </a:ext>
            </a:extLst>
          </p:cNvPr>
          <p:cNvSpPr>
            <a:spLocks xmlns:a="http://schemas.openxmlformats.org/drawingml/2006/main" noGrp="1"/>
          </p:cNvSpPr>
          <p:nvPr/>
        </p:nvSpPr>
        <p:spPr>
          <a:xfrm xmlns:a="http://schemas.openxmlformats.org/drawingml/2006/main">
            <a:off x="619125" y="5981700"/>
            <a:ext cx="1081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93B2B"/>
                </a:solidFill>
                <a:latin typeface="Liberation Sans"/>
                <a:ea typeface="Liberation Sans"/>
                <a:cs typeface="Liberation Sans"/>
              </a:defRPr>
            </a:pPr>
            <a:r>
              <a:rPr sz="1650" b="0">
                <a:solidFill>
                  <a:srgbClr val="193B2B"/>
                </a:solidFill>
                <a:latin typeface="Liberation Sans"/>
                <a:ea typeface="Liberation Sans"/>
                <a:cs typeface="Liberation Sans"/>
              </a:rPr>
              <a:t>4 peer / 4 MSP · 3 Raft orderer · TLS · tek yerel makine</a:t>
            </a:r>
          </a:p>
        </p:txBody>
      </p:sp>
      <p:sp>
        <p:nvSpPr>
          <p:cNvPr id="16" name="">
            <a:extLst xmlns:a="http://schemas.openxmlformats.org/drawingml/2006/main">
              <a:ext uri="{FF2B5EF4-FFF2-40B4-BE49-F238E27FC236}">
                <a16:creationId xmlns:a16="http://schemas.microsoft.com/office/drawing/2014/main" id="{6D77E4E8-62BD-4282-B65A-DDC6C6CBA108}"/>
              </a:ext>
            </a:extLst>
          </p:cNvPr>
          <p:cNvSpPr>
            <a:spLocks xmlns:a="http://schemas.openxmlformats.org/drawingml/2006/main" noGrp="1"/>
          </p:cNvSpPr>
          <p:nvPr/>
        </p:nvSpPr>
        <p:spPr>
          <a:xfrm xmlns:a="http://schemas.openxmlformats.org/drawingml/2006/main">
            <a:off x="11334750" y="65151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93B2B"/>
                </a:solidFill>
                <a:latin typeface="Liberation Sans"/>
                <a:ea typeface="Liberation Sans"/>
                <a:cs typeface="Liberation Sans"/>
              </a:defRPr>
            </a:pPr>
            <a:r>
              <a:rPr sz="1350" b="0">
                <a:solidFill>
                  <a:srgbClr val="193B2B"/>
                </a:solidFill>
                <a:latin typeface="Liberation Sans"/>
                <a:ea typeface="Liberation Sans"/>
                <a:cs typeface="Liberation Sans"/>
              </a:rPr>
              <a:t>04</a:t>
            </a:r>
          </a:p>
        </p:txBody>
      </p:sp>
    </p:spTree>
    <p:extLst>
      <p:ext uri="{BB962C8B-B14F-4D97-AF65-F5344CB8AC3E}">
        <p14:creationId xmlns:p14="http://schemas.microsoft.com/office/powerpoint/2010/main" val="935586567"/>
      </p:ext>
    </p:extLst>
  </p:cSld>
</p:sld>
</file>

<file path=ppt/slides/slide5.xml><?xml version="1.0" encoding="utf-8"?>
<p:sld xmlns:p="http://schemas.openxmlformats.org/presentationml/2006/main">
  <p:cSld>
    <p:bg>
      <p:bgPr>
        <a:solidFill xmlns:a="http://schemas.openxmlformats.org/drawingml/2006/main">
          <a:srgbClr val="F4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7A22A20-7F20-4CCB-9093-9839B7849E42}"/>
              </a:ext>
            </a:extLst>
          </p:cNvPr>
          <p:cNvSpPr>
            <a:spLocks xmlns:a="http://schemas.openxmlformats.org/drawingml/2006/main" noGrp="1"/>
          </p:cNvSpPr>
          <p:nvPr/>
        </p:nvSpPr>
        <p:spPr>
          <a:xfrm xmlns:a="http://schemas.openxmlformats.org/drawingml/2006/main">
            <a:off x="619125" y="428625"/>
            <a:ext cx="10906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93B2B"/>
                </a:solidFill>
                <a:latin typeface="Liberation Sans"/>
                <a:ea typeface="Liberation Sans"/>
                <a:cs typeface="Liberation Sans"/>
              </a:defRPr>
            </a:pPr>
            <a:r>
              <a:rPr sz="3450" b="1">
                <a:solidFill>
                  <a:srgbClr val="193B2B"/>
                </a:solidFill>
                <a:latin typeface="Liberation Sans"/>
                <a:ea typeface="Liberation Sans"/>
                <a:cs typeface="Liberation Sans"/>
              </a:rPr>
              <a:t>Veri paylaşım sınırları</a:t>
            </a:r>
          </a:p>
        </p:txBody>
      </p:sp>
      <p:sp>
        <p:nvSpPr>
          <p:cNvPr id="2" name="">
            <a:extLst xmlns:a="http://schemas.openxmlformats.org/drawingml/2006/main">
              <a:ext uri="{FF2B5EF4-FFF2-40B4-BE49-F238E27FC236}">
                <a16:creationId xmlns:a16="http://schemas.microsoft.com/office/drawing/2014/main" id="{17147017-FBDF-4C57-843E-11F63E01C1FC}"/>
              </a:ext>
            </a:extLst>
          </p:cNvPr>
          <p:cNvSpPr>
            <a:spLocks xmlns:a="http://schemas.openxmlformats.org/drawingml/2006/main" noGrp="1"/>
          </p:cNvSpPr>
          <p:nvPr/>
        </p:nvSpPr>
        <p:spPr>
          <a:xfrm xmlns:a="http://schemas.openxmlformats.org/drawingml/2006/main">
            <a:off x="619125" y="1428750"/>
            <a:ext cx="1090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93B2B"/>
                </a:solidFill>
                <a:latin typeface="Liberation Sans"/>
                <a:ea typeface="Liberation Sans"/>
                <a:cs typeface="Liberation Sans"/>
              </a:defRPr>
            </a:pPr>
            <a:r>
              <a:rPr sz="2250" b="0">
                <a:solidFill>
                  <a:srgbClr val="193B2B"/>
                </a:solidFill>
                <a:latin typeface="Liberation Sans"/>
                <a:ea typeface="Liberation Sans"/>
                <a:cs typeface="Liberation Sans"/>
              </a:rPr>
              <a:t>Şeffaflık, tüm ticari verilerin herkese açılmasını gerektirmez</a:t>
            </a:r>
          </a:p>
        </p:txBody>
      </p:sp>
      <p:graphicFrame>
        <p:nvGraphicFramePr>
          <p:cNvPr id="8" name=""/>
          <p:cNvGraphicFramePr/>
          <p:nvPr/>
        </p:nvGraphicFramePr>
        <p:xfrm>
          <a:off xmlns:a="http://schemas.openxmlformats.org/drawingml/2006/main" x="619125" y="2428875"/>
          <a:ext xmlns:a="http://schemas.openxmlformats.org/drawingml/2006/main" cx="10953750" cy="2438400"/>
        </p:xfrm>
        <a:graphic xmlns:a="http://schemas.openxmlformats.org/drawingml/2006/main">
          <a:graphicData uri="http://schemas.openxmlformats.org/drawingml/2006/table">
            <a:tbl>
              <a:tblPr/>
              <a:tblGrid>
                <a:gridCol w="3238500"/>
                <a:gridCol w="4429125"/>
                <a:gridCol w="3286125"/>
              </a:tblGrid>
              <a:tr h="609600">
                <a:tc>
                  <a:txBody>
                    <a:bodyPr/>
                    <a:lstStyle/>
                    <a:p>
                      <a:r>
                        <a:rPr sz="1875" b="1">
                          <a:solidFill>
                            <a:srgbClr val="FFFFFF"/>
                          </a:solidFill>
                          <a:latin typeface="Liberation Sans"/>
                          <a:ea typeface="Liberation Sans"/>
                          <a:cs typeface="Liberation Sans"/>
                        </a:rPr>
                        <a:t>Alan</a:t>
                      </a:r>
                    </a:p>
                  </a:txBody>
                  <a:tcPr marL="91440" marR="91440" marT="45720" marB="45720">
                    <a:solidFill>
                      <a:srgbClr val="23543B"/>
                    </a:solidFill>
                  </a:tcPr>
                </a:tc>
                <a:tc>
                  <a:txBody>
                    <a:bodyPr/>
                    <a:lstStyle/>
                    <a:p>
                      <a:r>
                        <a:rPr sz="1875" b="1">
                          <a:solidFill>
                            <a:srgbClr val="FFFFFF"/>
                          </a:solidFill>
                          <a:latin typeface="Liberation Sans"/>
                          <a:ea typeface="Liberation Sans"/>
                          <a:cs typeface="Liberation Sans"/>
                        </a:rPr>
                        <a:t>Örnek</a:t>
                      </a:r>
                    </a:p>
                  </a:txBody>
                  <a:tcPr marL="91440" marR="91440" marT="45720" marB="45720">
                    <a:solidFill>
                      <a:srgbClr val="23543B"/>
                    </a:solidFill>
                  </a:tcPr>
                </a:tc>
                <a:tc>
                  <a:txBody>
                    <a:bodyPr/>
                    <a:lstStyle/>
                    <a:p>
                      <a:r>
                        <a:rPr sz="1875" b="1">
                          <a:solidFill>
                            <a:srgbClr val="FFFFFF"/>
                          </a:solidFill>
                          <a:latin typeface="Liberation Sans"/>
                          <a:ea typeface="Liberation Sans"/>
                          <a:cs typeface="Liberation Sans"/>
                        </a:rPr>
                        <a:t>Yetki</a:t>
                      </a:r>
                    </a:p>
                  </a:txBody>
                  <a:tcPr marL="91440" marR="91440" marT="45720" marB="45720">
                    <a:solidFill>
                      <a:srgbClr val="23543B"/>
                    </a:solidFill>
                  </a:tcPr>
                </a:tc>
              </a:tr>
              <a:tr h="609600">
                <a:tc>
                  <a:txBody>
                    <a:bodyPr/>
                    <a:lstStyle/>
                    <a:p>
                      <a:r>
                        <a:rPr sz="1875" b="0">
                          <a:solidFill>
                            <a:srgbClr val="193B2B"/>
                          </a:solidFill>
                          <a:latin typeface="Liberation Sans"/>
                          <a:ea typeface="Liberation Sans"/>
                          <a:cs typeface="Liberation Sans"/>
                        </a:rPr>
                        <a:t>Ortak ledger</a:t>
                      </a:r>
                    </a:p>
                  </a:txBody>
                  <a:tcPr marL="91440" marR="91440" marT="45720" marB="45720">
                    <a:solidFill>
                      <a:srgbClr val="F4F4EB"/>
                    </a:solidFill>
                  </a:tcPr>
                </a:tc>
                <a:tc>
                  <a:txBody>
                    <a:bodyPr/>
                    <a:lstStyle/>
                    <a:p>
                      <a:r>
                        <a:rPr sz="1875" b="0">
                          <a:solidFill>
                            <a:srgbClr val="193B2B"/>
                          </a:solidFill>
                          <a:latin typeface="Liberation Sans"/>
                          <a:ea typeface="Liberation Sans"/>
                          <a:cs typeface="Liberation Sans"/>
                        </a:rPr>
                        <a:t>Parti, sahiplik, kanıt</a:t>
                      </a:r>
                    </a:p>
                  </a:txBody>
                  <a:tcPr marL="91440" marR="91440" marT="45720" marB="45720">
                    <a:solidFill>
                      <a:srgbClr val="F4F4EB"/>
                    </a:solidFill>
                  </a:tcPr>
                </a:tc>
                <a:tc>
                  <a:txBody>
                    <a:bodyPr/>
                    <a:lstStyle/>
                    <a:p>
                      <a:r>
                        <a:rPr sz="1875" b="0">
                          <a:solidFill>
                            <a:srgbClr val="193B2B"/>
                          </a:solidFill>
                          <a:latin typeface="Liberation Sans"/>
                          <a:ea typeface="Liberation Sans"/>
                          <a:cs typeface="Liberation Sans"/>
                        </a:rPr>
                        <a:t>Kanal üyeleri</a:t>
                      </a:r>
                    </a:p>
                  </a:txBody>
                  <a:tcPr marL="91440" marR="91440" marT="45720" marB="45720">
                    <a:solidFill>
                      <a:srgbClr val="F4F4EB"/>
                    </a:solidFill>
                  </a:tcPr>
                </a:tc>
              </a:tr>
              <a:tr h="609600">
                <a:tc>
                  <a:txBody>
                    <a:bodyPr/>
                    <a:lstStyle/>
                    <a:p>
                      <a:r>
                        <a:rPr sz="1875" b="0">
                          <a:solidFill>
                            <a:srgbClr val="193B2B"/>
                          </a:solidFill>
                          <a:latin typeface="Liberation Sans"/>
                          <a:ea typeface="Liberation Sans"/>
                          <a:cs typeface="Liberation Sans"/>
                        </a:rPr>
                        <a:t>PDC</a:t>
                      </a:r>
                    </a:p>
                  </a:txBody>
                  <a:tcPr marL="91440" marR="91440" marT="45720" marB="45720">
                    <a:solidFill>
                      <a:srgbClr val="F4F4EB"/>
                    </a:solidFill>
                  </a:tcPr>
                </a:tc>
                <a:tc>
                  <a:txBody>
                    <a:bodyPr/>
                    <a:lstStyle/>
                    <a:p>
                      <a:r>
                        <a:rPr sz="1875" b="0">
                          <a:solidFill>
                            <a:srgbClr val="193B2B"/>
                          </a:solidFill>
                          <a:latin typeface="Liberation Sans"/>
                          <a:ea typeface="Liberation Sans"/>
                          <a:cs typeface="Liberation Sans"/>
                        </a:rPr>
                        <a:t>Ticari değerler, inceleme</a:t>
                      </a:r>
                    </a:p>
                  </a:txBody>
                  <a:tcPr marL="91440" marR="91440" marT="45720" marB="45720">
                    <a:solidFill>
                      <a:srgbClr val="F4F4EB"/>
                    </a:solidFill>
                  </a:tcPr>
                </a:tc>
                <a:tc>
                  <a:txBody>
                    <a:bodyPr/>
                    <a:lstStyle/>
                    <a:p>
                      <a:r>
                        <a:rPr sz="1875" b="0">
                          <a:solidFill>
                            <a:srgbClr val="193B2B"/>
                          </a:solidFill>
                          <a:latin typeface="Liberation Sans"/>
                          <a:ea typeface="Liberation Sans"/>
                          <a:cs typeface="Liberation Sans"/>
                        </a:rPr>
                        <a:t>Koleksiyon + rol</a:t>
                      </a:r>
                    </a:p>
                  </a:txBody>
                  <a:tcPr marL="91440" marR="91440" marT="45720" marB="45720">
                    <a:solidFill>
                      <a:srgbClr val="F4F4EB"/>
                    </a:solidFill>
                  </a:tcPr>
                </a:tc>
              </a:tr>
              <a:tr h="609600">
                <a:tc>
                  <a:txBody>
                    <a:bodyPr/>
                    <a:lstStyle/>
                    <a:p>
                      <a:r>
                        <a:rPr sz="1875" b="0">
                          <a:solidFill>
                            <a:srgbClr val="193B2B"/>
                          </a:solidFill>
                          <a:latin typeface="Liberation Sans"/>
                          <a:ea typeface="Liberation Sans"/>
                          <a:cs typeface="Liberation Sans"/>
                        </a:rPr>
                        <a:t>Zincir dışı</a:t>
                      </a:r>
                    </a:p>
                  </a:txBody>
                  <a:tcPr marL="91440" marR="91440" marT="45720" marB="45720">
                    <a:solidFill>
                      <a:srgbClr val="F4F4EB"/>
                    </a:solidFill>
                  </a:tcPr>
                </a:tc>
                <a:tc>
                  <a:txBody>
                    <a:bodyPr/>
                    <a:lstStyle/>
                    <a:p>
                      <a:r>
                        <a:rPr sz="1875" b="0">
                          <a:solidFill>
                            <a:srgbClr val="193B2B"/>
                          </a:solidFill>
                          <a:latin typeface="Liberation Sans"/>
                          <a:ea typeface="Liberation Sans"/>
                          <a:cs typeface="Liberation Sans"/>
                        </a:rPr>
                        <a:t>Özgün belge, günlük</a:t>
                      </a:r>
                    </a:p>
                  </a:txBody>
                  <a:tcPr marL="91440" marR="91440" marT="45720" marB="45720">
                    <a:solidFill>
                      <a:srgbClr val="F4F4EB"/>
                    </a:solidFill>
                  </a:tcPr>
                </a:tc>
                <a:tc>
                  <a:txBody>
                    <a:bodyPr/>
                    <a:lstStyle/>
                    <a:p>
                      <a:r>
                        <a:rPr sz="1875" b="0">
                          <a:solidFill>
                            <a:srgbClr val="193B2B"/>
                          </a:solidFill>
                          <a:latin typeface="Liberation Sans"/>
                          <a:ea typeface="Liberation Sans"/>
                          <a:cs typeface="Liberation Sans"/>
                        </a:rPr>
                        <a:t>Backend denetimi</a:t>
                      </a:r>
                    </a:p>
                  </a:txBody>
                  <a:tcPr marL="91440" marR="91440" marT="45720" marB="45720">
                    <a:solidFill>
                      <a:srgbClr val="F4F4EB"/>
                    </a:solidFill>
                  </a:tcPr>
                </a:tc>
              </a:tr>
            </a:tbl>
          </a:graphicData>
        </a:graphic>
      </p:graphicFrame>
      <p:sp>
        <p:nvSpPr>
          <p:cNvPr id="4" name="">
            <a:extLst xmlns:a="http://schemas.openxmlformats.org/drawingml/2006/main">
              <a:ext uri="{FF2B5EF4-FFF2-40B4-BE49-F238E27FC236}">
                <a16:creationId xmlns:a16="http://schemas.microsoft.com/office/drawing/2014/main" id="{2C0BEDE9-9C00-4360-A4B1-A211BBEA5DBB}"/>
              </a:ext>
            </a:extLst>
          </p:cNvPr>
          <p:cNvSpPr>
            <a:spLocks xmlns:a="http://schemas.openxmlformats.org/drawingml/2006/main" noGrp="1"/>
          </p:cNvSpPr>
          <p:nvPr/>
        </p:nvSpPr>
        <p:spPr>
          <a:xfrm xmlns:a="http://schemas.openxmlformats.org/drawingml/2006/main">
            <a:off x="619125" y="6000750"/>
            <a:ext cx="1090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06352"/>
                </a:solidFill>
                <a:latin typeface="Liberation Sans"/>
                <a:ea typeface="Liberation Sans"/>
                <a:cs typeface="Liberation Sans"/>
              </a:defRPr>
            </a:pPr>
            <a:r>
              <a:rPr sz="1575" b="0">
                <a:solidFill>
                  <a:srgbClr val="506352"/>
                </a:solidFill>
                <a:latin typeface="Liberation Sans"/>
                <a:ea typeface="Liberation Sans"/>
                <a:cs typeface="Liberation Sans"/>
              </a:rPr>
              <a:t>Tüketici görünümü yalnız izin verilen kaynak ve teslim alanlarını içerir.</a:t>
            </a:r>
          </a:p>
        </p:txBody>
      </p:sp>
      <p:sp>
        <p:nvSpPr>
          <p:cNvPr id="5" name="">
            <a:extLst xmlns:a="http://schemas.openxmlformats.org/drawingml/2006/main">
              <a:ext uri="{FF2B5EF4-FFF2-40B4-BE49-F238E27FC236}">
                <a16:creationId xmlns:a16="http://schemas.microsoft.com/office/drawing/2014/main" id="{33873943-B520-4C9F-A38D-77760F3BA87E}"/>
              </a:ext>
            </a:extLst>
          </p:cNvPr>
          <p:cNvSpPr>
            <a:spLocks xmlns:a="http://schemas.openxmlformats.org/drawingml/2006/main" noGrp="1"/>
          </p:cNvSpPr>
          <p:nvPr/>
        </p:nvSpPr>
        <p:spPr>
          <a:xfrm xmlns:a="http://schemas.openxmlformats.org/drawingml/2006/main">
            <a:off x="11334750" y="65151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93B2B"/>
                </a:solidFill>
                <a:latin typeface="Liberation Sans"/>
                <a:ea typeface="Liberation Sans"/>
                <a:cs typeface="Liberation Sans"/>
              </a:defRPr>
            </a:pPr>
            <a:r>
              <a:rPr sz="1350" b="0">
                <a:solidFill>
                  <a:srgbClr val="193B2B"/>
                </a:solidFill>
                <a:latin typeface="Liberation Sans"/>
                <a:ea typeface="Liberation Sans"/>
                <a:cs typeface="Liberation Sans"/>
              </a:rPr>
              <a:t>05</a:t>
            </a:r>
          </a:p>
        </p:txBody>
      </p:sp>
    </p:spTree>
    <p:extLst>
      <p:ext uri="{BB962C8B-B14F-4D97-AF65-F5344CB8AC3E}">
        <p14:creationId xmlns:p14="http://schemas.microsoft.com/office/powerpoint/2010/main" val="941643807"/>
      </p:ext>
    </p:extLst>
  </p:cSld>
</p:sld>
</file>

<file path=ppt/slides/slide6.xml><?xml version="1.0" encoding="utf-8"?>
<p:sld xmlns:p="http://schemas.openxmlformats.org/presentationml/2006/main">
  <p:cSld>
    <p:bg>
      <p:bgPr>
        <a:solidFill xmlns:a="http://schemas.openxmlformats.org/drawingml/2006/main">
          <a:srgbClr val="F4F4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CB078E-7ABF-4B09-A713-498F8E81BD34}"/>
              </a:ext>
            </a:extLst>
          </p:cNvPr>
          <p:cNvSpPr>
            <a:spLocks xmlns:a="http://schemas.openxmlformats.org/drawingml/2006/main" noGrp="1"/>
          </p:cNvSpPr>
          <p:nvPr/>
        </p:nvSpPr>
        <p:spPr>
          <a:xfrm xmlns:a="http://schemas.openxmlformats.org/drawingml/2006/main">
            <a:off x="619125" y="428625"/>
            <a:ext cx="10906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93B2B"/>
                </a:solidFill>
                <a:latin typeface="Liberation Sans"/>
                <a:ea typeface="Liberation Sans"/>
                <a:cs typeface="Liberation Sans"/>
              </a:defRPr>
            </a:pPr>
            <a:r>
              <a:rPr sz="3450" b="1">
                <a:solidFill>
                  <a:srgbClr val="193B2B"/>
                </a:solidFill>
                <a:latin typeface="Liberation Sans"/>
                <a:ea typeface="Liberation Sans"/>
                <a:cs typeface="Liberation Sans"/>
              </a:rPr>
              <a:t>Kurum verisi ve belge bütünlüğü</a:t>
            </a:r>
          </a:p>
        </p:txBody>
      </p:sp>
      <p:sp>
        <p:nvSpPr>
          <p:cNvPr id="2" name="">
            <a:extLst xmlns:a="http://schemas.openxmlformats.org/drawingml/2006/main">
              <a:ext uri="{FF2B5EF4-FFF2-40B4-BE49-F238E27FC236}">
                <a16:creationId xmlns:a16="http://schemas.microsoft.com/office/drawing/2014/main" id="{F326DFEC-1F99-498A-8723-EAA7B90BA508}"/>
              </a:ext>
            </a:extLst>
          </p:cNvPr>
          <p:cNvSpPr>
            <a:spLocks xmlns:a="http://schemas.openxmlformats.org/drawingml/2006/main" noGrp="1"/>
          </p:cNvSpPr>
          <p:nvPr/>
        </p:nvSpPr>
        <p:spPr>
          <a:xfrm xmlns:a="http://schemas.openxmlformats.org/drawingml/2006/main">
            <a:off x="619125" y="1428750"/>
            <a:ext cx="1090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93B2B"/>
                </a:solidFill>
                <a:latin typeface="Liberation Sans"/>
                <a:ea typeface="Liberation Sans"/>
                <a:cs typeface="Liberation Sans"/>
              </a:defRPr>
            </a:pPr>
            <a:r>
              <a:rPr sz="2250" b="0">
                <a:solidFill>
                  <a:srgbClr val="193B2B"/>
                </a:solidFill>
                <a:latin typeface="Liberation Sans"/>
                <a:ea typeface="Liberation Sans"/>
                <a:cs typeface="Liberation Sans"/>
              </a:rPr>
              <a:t>ÇKS, e-Fatura, HKS ve U-ETDS: SIMULATED</a:t>
            </a:r>
          </a:p>
        </p:txBody>
      </p:sp>
      <p:sp>
        <p:nvSpPr>
          <p:cNvPr id="3" name="">
            <a:extLst xmlns:a="http://schemas.openxmlformats.org/drawingml/2006/main">
              <a:ext uri="{FF2B5EF4-FFF2-40B4-BE49-F238E27FC236}">
                <a16:creationId xmlns:a16="http://schemas.microsoft.com/office/drawing/2014/main" id="{943DF14C-15D6-4A4B-80C7-97553FF9F591}"/>
              </a:ext>
            </a:extLst>
          </p:cNvPr>
          <p:cNvSpPr>
            <a:spLocks xmlns:a="http://schemas.openxmlformats.org/drawingml/2006/main" noGrp="1"/>
          </p:cNvSpPr>
          <p:nvPr/>
        </p:nvSpPr>
        <p:spPr>
          <a:xfrm xmlns:a="http://schemas.openxmlformats.org/drawingml/2006/main">
            <a:off x="619125" y="2524125"/>
            <a:ext cx="1071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93B2B"/>
                </a:solidFill>
                <a:latin typeface="Liberation Sans"/>
                <a:ea typeface="Liberation Sans"/>
                <a:cs typeface="Liberation Sans"/>
              </a:defRPr>
            </a:pPr>
            <a:r>
              <a:rPr sz="2400" b="0">
                <a:solidFill>
                  <a:srgbClr val="193B2B"/>
                </a:solidFill>
                <a:latin typeface="Liberation Sans"/>
                <a:ea typeface="Liberation Sans"/>
                <a:cs typeface="Liberation Sans"/>
              </a:rPr>
              <a:t>Backend imzayı, kaynak anahtarını ve işlem bağını doğrular.</a:t>
            </a:r>
          </a:p>
        </p:txBody>
      </p:sp>
      <p:sp>
        <p:nvSpPr>
          <p:cNvPr id="4" name="">
            <a:extLst xmlns:a="http://schemas.openxmlformats.org/drawingml/2006/main">
              <a:ext uri="{FF2B5EF4-FFF2-40B4-BE49-F238E27FC236}">
                <a16:creationId xmlns:a16="http://schemas.microsoft.com/office/drawing/2014/main" id="{FFF49E54-2AA0-4A5A-95F9-7792A5576E5A}"/>
              </a:ext>
            </a:extLst>
          </p:cNvPr>
          <p:cNvSpPr>
            <a:spLocks xmlns:a="http://schemas.openxmlformats.org/drawingml/2006/main" noGrp="1"/>
          </p:cNvSpPr>
          <p:nvPr/>
        </p:nvSpPr>
        <p:spPr>
          <a:xfrm xmlns:a="http://schemas.openxmlformats.org/drawingml/2006/main">
            <a:off x="619125" y="3524250"/>
            <a:ext cx="1071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93B2B"/>
                </a:solidFill>
                <a:latin typeface="Liberation Sans"/>
                <a:ea typeface="Liberation Sans"/>
                <a:cs typeface="Liberation Sans"/>
              </a:defRPr>
            </a:pPr>
            <a:r>
              <a:rPr sz="2400" b="0">
                <a:solidFill>
                  <a:srgbClr val="193B2B"/>
                </a:solidFill>
                <a:latin typeface="Liberation Sans"/>
                <a:ea typeface="Liberation Sans"/>
                <a:cs typeface="Liberation Sans"/>
              </a:rPr>
              <a:t>Chaincode deterministik olarak kanıtı denetler.</a:t>
            </a:r>
          </a:p>
        </p:txBody>
      </p:sp>
      <p:sp>
        <p:nvSpPr>
          <p:cNvPr id="5" name="">
            <a:extLst xmlns:a="http://schemas.openxmlformats.org/drawingml/2006/main">
              <a:ext uri="{FF2B5EF4-FFF2-40B4-BE49-F238E27FC236}">
                <a16:creationId xmlns:a16="http://schemas.microsoft.com/office/drawing/2014/main" id="{78BD8ADB-CA17-478E-82A9-686817717A5E}"/>
              </a:ext>
            </a:extLst>
          </p:cNvPr>
          <p:cNvSpPr>
            <a:spLocks xmlns:a="http://schemas.openxmlformats.org/drawingml/2006/main" noGrp="1"/>
          </p:cNvSpPr>
          <p:nvPr/>
        </p:nvSpPr>
        <p:spPr>
          <a:xfrm xmlns:a="http://schemas.openxmlformats.org/drawingml/2006/main">
            <a:off x="619125" y="4524375"/>
            <a:ext cx="1071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93B2B"/>
                </a:solidFill>
                <a:latin typeface="Liberation Sans"/>
                <a:ea typeface="Liberation Sans"/>
                <a:cs typeface="Liberation Sans"/>
              </a:defRPr>
            </a:pPr>
            <a:r>
              <a:rPr sz="2400" b="0">
                <a:solidFill>
                  <a:srgbClr val="193B2B"/>
                </a:solidFill>
                <a:latin typeface="Liberation Sans"/>
                <a:ea typeface="Liberation Sans"/>
                <a:cs typeface="Liberation Sans"/>
              </a:rPr>
              <a:t>Özgün belge doğrulanır. Değiştirilen belge reddedilir.</a:t>
            </a:r>
          </a:p>
        </p:txBody>
      </p:sp>
      <p:sp>
        <p:nvSpPr>
          <p:cNvPr id="6" name="">
            <a:extLst xmlns:a="http://schemas.openxmlformats.org/drawingml/2006/main">
              <a:ext uri="{FF2B5EF4-FFF2-40B4-BE49-F238E27FC236}">
                <a16:creationId xmlns:a16="http://schemas.microsoft.com/office/drawing/2014/main" id="{F3A39479-E74C-47DB-BF68-3A58BBD27787}"/>
              </a:ext>
            </a:extLst>
          </p:cNvPr>
          <p:cNvSpPr>
            <a:spLocks xmlns:a="http://schemas.openxmlformats.org/drawingml/2006/main" noGrp="1"/>
          </p:cNvSpPr>
          <p:nvPr/>
        </p:nvSpPr>
        <p:spPr>
          <a:xfrm xmlns:a="http://schemas.openxmlformats.org/drawingml/2006/main">
            <a:off x="619125" y="6000750"/>
            <a:ext cx="1090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06352"/>
                </a:solidFill>
                <a:latin typeface="Liberation Sans"/>
                <a:ea typeface="Liberation Sans"/>
                <a:cs typeface="Liberation Sans"/>
              </a:defRPr>
            </a:pPr>
            <a:r>
              <a:rPr sz="1575" b="0">
                <a:solidFill>
                  <a:srgbClr val="506352"/>
                </a:solidFill>
                <a:latin typeface="Liberation Sans"/>
                <a:ea typeface="Liberation Sans"/>
                <a:cs typeface="Liberation Sans"/>
              </a:rPr>
              <a:t>Gerçek devlet API bağlantısı veya kurum onayı iddiası yoktur.</a:t>
            </a:r>
          </a:p>
        </p:txBody>
      </p:sp>
      <p:sp>
        <p:nvSpPr>
          <p:cNvPr id="7" name="">
            <a:extLst xmlns:a="http://schemas.openxmlformats.org/drawingml/2006/main">
              <a:ext uri="{FF2B5EF4-FFF2-40B4-BE49-F238E27FC236}">
                <a16:creationId xmlns:a16="http://schemas.microsoft.com/office/drawing/2014/main" id="{3DCD90FD-5977-4867-890D-96E3D7E51061}"/>
              </a:ext>
            </a:extLst>
          </p:cNvPr>
          <p:cNvSpPr>
            <a:spLocks xmlns:a="http://schemas.openxmlformats.org/drawingml/2006/main" noGrp="1"/>
          </p:cNvSpPr>
          <p:nvPr/>
        </p:nvSpPr>
        <p:spPr>
          <a:xfrm xmlns:a="http://schemas.openxmlformats.org/drawingml/2006/main">
            <a:off x="11334750" y="65151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93B2B"/>
                </a:solidFill>
                <a:latin typeface="Liberation Sans"/>
                <a:ea typeface="Liberation Sans"/>
                <a:cs typeface="Liberation Sans"/>
              </a:defRPr>
            </a:pPr>
            <a:r>
              <a:rPr sz="1350" b="0">
                <a:solidFill>
                  <a:srgbClr val="193B2B"/>
                </a:solidFill>
                <a:latin typeface="Liberation Sans"/>
                <a:ea typeface="Liberation Sans"/>
                <a:cs typeface="Liberation Sans"/>
              </a:rPr>
              <a:t>06</a:t>
            </a:r>
          </a:p>
        </p:txBody>
      </p:sp>
    </p:spTree>
    <p:extLst>
      <p:ext uri="{BB962C8B-B14F-4D97-AF65-F5344CB8AC3E}">
        <p14:creationId xmlns:p14="http://schemas.microsoft.com/office/powerpoint/2010/main" val="2129459169"/>
      </p:ext>
    </p:extLst>
  </p:cSld>
</p:sld>
</file>

<file path=ppt/slides/slide7.xml><?xml version="1.0" encoding="utf-8"?>
<p:sld xmlns:p="http://schemas.openxmlformats.org/presentationml/2006/main">
  <p:cSld>
    <p:bg>
      <p:bgPr>
        <a:solidFill xmlns:a="http://schemas.openxmlformats.org/drawingml/2006/main">
          <a:srgbClr val="F4F4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7776C4C-B7A1-4BB9-B19C-49FA6C0A4016}"/>
              </a:ext>
            </a:extLst>
          </p:cNvPr>
          <p:cNvSpPr>
            <a:spLocks xmlns:a="http://schemas.openxmlformats.org/drawingml/2006/main" noGrp="1"/>
          </p:cNvSpPr>
          <p:nvPr/>
        </p:nvSpPr>
        <p:spPr>
          <a:xfrm xmlns:a="http://schemas.openxmlformats.org/drawingml/2006/main">
            <a:off x="619125" y="428625"/>
            <a:ext cx="10906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93B2B"/>
                </a:solidFill>
                <a:latin typeface="Liberation Sans"/>
                <a:ea typeface="Liberation Sans"/>
                <a:cs typeface="Liberation Sans"/>
              </a:defRPr>
            </a:pPr>
            <a:r>
              <a:rPr sz="3450" b="1">
                <a:solidFill>
                  <a:srgbClr val="193B2B"/>
                </a:solidFill>
                <a:latin typeface="Liberation Sans"/>
                <a:ea typeface="Liberation Sans"/>
                <a:cs typeface="Liberation Sans"/>
              </a:rPr>
              <a:t>İki parti, açıklanabilir sonuç</a:t>
            </a:r>
          </a:p>
        </p:txBody>
      </p:sp>
      <p:sp>
        <p:nvSpPr>
          <p:cNvPr id="2" name="">
            <a:extLst xmlns:a="http://schemas.openxmlformats.org/drawingml/2006/main">
              <a:ext uri="{FF2B5EF4-FFF2-40B4-BE49-F238E27FC236}">
                <a16:creationId xmlns:a16="http://schemas.microsoft.com/office/drawing/2014/main" id="{08F1D490-D56E-4ADE-8BBD-6F9C4F1EF86A}"/>
              </a:ext>
            </a:extLst>
          </p:cNvPr>
          <p:cNvSpPr>
            <a:spLocks xmlns:a="http://schemas.openxmlformats.org/drawingml/2006/main" noGrp="1"/>
          </p:cNvSpPr>
          <p:nvPr/>
        </p:nvSpPr>
        <p:spPr>
          <a:xfrm xmlns:a="http://schemas.openxmlformats.org/drawingml/2006/main">
            <a:off x="619125" y="1428750"/>
            <a:ext cx="1090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93B2B"/>
                </a:solidFill>
                <a:latin typeface="Liberation Sans"/>
                <a:ea typeface="Liberation Sans"/>
                <a:cs typeface="Liberation Sans"/>
              </a:defRPr>
            </a:pPr>
            <a:r>
              <a:rPr sz="2250" b="0">
                <a:solidFill>
                  <a:srgbClr val="193B2B"/>
                </a:solidFill>
                <a:latin typeface="Liberation Sans"/>
                <a:ea typeface="Liberation Sans"/>
                <a:cs typeface="Liberation Sans"/>
              </a:rPr>
              <a:t>Alış 20 TL/kg. Pilot eşiği %50.</a:t>
            </a:r>
          </a:p>
        </p:txBody>
      </p:sp>
      <p:graphicFrame>
        <p:nvGraphicFramePr>
          <p:cNvPr id="10" name="Chart"/>
          <p:cNvGraphicFramePr/>
          <p:nvPr/>
        </p:nvGraphicFramePr>
        <p:xfrm>
          <a:off xmlns:a="http://schemas.openxmlformats.org/drawingml/2006/main" x="619125" y="2400300"/>
          <a:ext xmlns:a="http://schemas.openxmlformats.org/drawingml/2006/main" cx="5810250" cy="3095625"/>
        </p:xfrm>
        <a:graphic xmlns:a="http://schemas.openxmlformats.org/drawingml/2006/main">
          <a:graphicData uri="http://schemas.openxmlformats.org/drawingml/2006/chart">
            <c:chart xmlns:r="http://schemas.openxmlformats.org/officeDocument/2006/relationships" xmlns:c="http://schemas.openxmlformats.org/drawingml/2006/chart" r:id="R8ace080dc2fb4de2"/>
          </a:graphicData>
        </a:graphic>
      </p:graphicFrame>
      <p:sp>
        <p:nvSpPr>
          <p:cNvPr id="4" name="">
            <a:extLst xmlns:a="http://schemas.openxmlformats.org/drawingml/2006/main">
              <a:ext uri="{FF2B5EF4-FFF2-40B4-BE49-F238E27FC236}">
                <a16:creationId xmlns:a16="http://schemas.microsoft.com/office/drawing/2014/main" id="{DACF071C-4130-4C14-BAA8-4EB19F148964}"/>
              </a:ext>
            </a:extLst>
          </p:cNvPr>
          <p:cNvSpPr>
            <a:spLocks xmlns:a="http://schemas.openxmlformats.org/drawingml/2006/main" noGrp="1"/>
          </p:cNvSpPr>
          <p:nvPr/>
        </p:nvSpPr>
        <p:spPr>
          <a:xfrm xmlns:a="http://schemas.openxmlformats.org/drawingml/2006/main">
            <a:off x="7096125" y="2524125"/>
            <a:ext cx="4476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93B2B"/>
                </a:solidFill>
                <a:latin typeface="Liberation Sans"/>
                <a:ea typeface="Liberation Sans"/>
                <a:cs typeface="Liberation Sans"/>
              </a:defRPr>
            </a:pPr>
            <a:r>
              <a:rPr sz="2250" b="1">
                <a:solidFill>
                  <a:srgbClr val="193B2B"/>
                </a:solidFill>
                <a:latin typeface="Liberation Sans"/>
                <a:ea typeface="Liberation Sans"/>
                <a:cs typeface="Liberation Sans"/>
              </a:rPr>
              <a:t>20 → 28 TL/kg</a:t>
            </a:r>
          </a:p>
          <a:p xmlns:a="http://schemas.openxmlformats.org/drawingml/2006/main">
            <a:pPr>
              <a:defRPr sz="2250" b="1">
                <a:solidFill>
                  <a:srgbClr val="193B2B"/>
                </a:solidFill>
                <a:latin typeface="Liberation Sans"/>
                <a:ea typeface="Liberation Sans"/>
                <a:cs typeface="Liberation Sans"/>
              </a:defRPr>
            </a:pPr>
            <a:r>
              <a:rPr sz="2250" b="1">
                <a:solidFill>
                  <a:srgbClr val="193B2B"/>
                </a:solidFill>
                <a:latin typeface="Liberation Sans"/>
                <a:ea typeface="Liberation Sans"/>
                <a:cs typeface="Liberation Sans"/>
              </a:rPr>
              <a:t>%40 artış</a:t>
            </a:r>
          </a:p>
          <a:p xmlns:a="http://schemas.openxmlformats.org/drawingml/2006/main">
            <a:pPr>
              <a:defRPr sz="2250" b="1">
                <a:solidFill>
                  <a:srgbClr val="193B2B"/>
                </a:solidFill>
                <a:latin typeface="Liberation Sans"/>
                <a:ea typeface="Liberation Sans"/>
                <a:cs typeface="Liberation Sans"/>
              </a:defRPr>
            </a:pPr>
            <a:r>
              <a:rPr sz="2250" b="1">
                <a:solidFill>
                  <a:srgbClr val="193B2B"/>
                </a:solidFill>
                <a:latin typeface="Liberation Sans"/>
                <a:ea typeface="Liberation Sans"/>
                <a:cs typeface="Liberation Sans"/>
              </a:rPr>
              <a:t>Eşik aşımı yok</a:t>
            </a:r>
          </a:p>
        </p:txBody>
      </p:sp>
      <p:sp>
        <p:nvSpPr>
          <p:cNvPr id="5" name="">
            <a:extLst xmlns:a="http://schemas.openxmlformats.org/drawingml/2006/main">
              <a:ext uri="{FF2B5EF4-FFF2-40B4-BE49-F238E27FC236}">
                <a16:creationId xmlns:a16="http://schemas.microsoft.com/office/drawing/2014/main" id="{0EAA4EDC-C4DA-4716-81FB-406BEBCD9C9C}"/>
              </a:ext>
            </a:extLst>
          </p:cNvPr>
          <p:cNvSpPr>
            <a:spLocks xmlns:a="http://schemas.openxmlformats.org/drawingml/2006/main" noGrp="1"/>
          </p:cNvSpPr>
          <p:nvPr/>
        </p:nvSpPr>
        <p:spPr>
          <a:xfrm xmlns:a="http://schemas.openxmlformats.org/drawingml/2006/main">
            <a:off x="7096125" y="4238625"/>
            <a:ext cx="4476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804213"/>
                </a:solidFill>
                <a:latin typeface="Liberation Sans"/>
                <a:ea typeface="Liberation Sans"/>
                <a:cs typeface="Liberation Sans"/>
              </a:defRPr>
            </a:pPr>
            <a:r>
              <a:rPr sz="2250" b="1">
                <a:solidFill>
                  <a:srgbClr val="804213"/>
                </a:solidFill>
                <a:latin typeface="Liberation Sans"/>
                <a:ea typeface="Liberation Sans"/>
                <a:cs typeface="Liberation Sans"/>
              </a:rPr>
              <a:t>20 → 37 TL/kg</a:t>
            </a:r>
          </a:p>
          <a:p xmlns:a="http://schemas.openxmlformats.org/drawingml/2006/main">
            <a:pPr>
              <a:defRPr sz="2250" b="1">
                <a:solidFill>
                  <a:srgbClr val="804213"/>
                </a:solidFill>
                <a:latin typeface="Liberation Sans"/>
                <a:ea typeface="Liberation Sans"/>
                <a:cs typeface="Liberation Sans"/>
              </a:defRPr>
            </a:pPr>
            <a:r>
              <a:rPr sz="2250" b="1">
                <a:solidFill>
                  <a:srgbClr val="804213"/>
                </a:solidFill>
                <a:latin typeface="Liberation Sans"/>
                <a:ea typeface="Liberation Sans"/>
                <a:cs typeface="Liberation Sans"/>
              </a:rPr>
              <a:t>%85 artış</a:t>
            </a:r>
          </a:p>
          <a:p xmlns:a="http://schemas.openxmlformats.org/drawingml/2006/main">
            <a:pPr>
              <a:defRPr sz="2250" b="1">
                <a:solidFill>
                  <a:srgbClr val="804213"/>
                </a:solidFill>
                <a:latin typeface="Liberation Sans"/>
                <a:ea typeface="Liberation Sans"/>
                <a:cs typeface="Liberation Sans"/>
              </a:defRPr>
            </a:pPr>
            <a:r>
              <a:rPr sz="2250" b="1">
                <a:solidFill>
                  <a:srgbClr val="804213"/>
                </a:solidFill>
                <a:latin typeface="Liberation Sans"/>
                <a:ea typeface="Liberation Sans"/>
                <a:cs typeface="Liberation Sans"/>
              </a:rPr>
              <a:t>İnceleme sinyali</a:t>
            </a:r>
          </a:p>
        </p:txBody>
      </p:sp>
      <p:sp>
        <p:nvSpPr>
          <p:cNvPr id="6" name="">
            <a:extLst xmlns:a="http://schemas.openxmlformats.org/drawingml/2006/main">
              <a:ext uri="{FF2B5EF4-FFF2-40B4-BE49-F238E27FC236}">
                <a16:creationId xmlns:a16="http://schemas.microsoft.com/office/drawing/2014/main" id="{25B98E77-2CB9-4AB6-89B4-3B3AD8EA98CB}"/>
              </a:ext>
            </a:extLst>
          </p:cNvPr>
          <p:cNvSpPr>
            <a:spLocks xmlns:a="http://schemas.openxmlformats.org/drawingml/2006/main" noGrp="1"/>
          </p:cNvSpPr>
          <p:nvPr/>
        </p:nvSpPr>
        <p:spPr>
          <a:xfrm xmlns:a="http://schemas.openxmlformats.org/drawingml/2006/main">
            <a:off x="619125" y="6000750"/>
            <a:ext cx="1090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06352"/>
                </a:solidFill>
                <a:latin typeface="Liberation Sans"/>
                <a:ea typeface="Liberation Sans"/>
                <a:cs typeface="Liberation Sans"/>
              </a:defRPr>
            </a:pPr>
            <a:r>
              <a:rPr sz="1575" b="0">
                <a:solidFill>
                  <a:srgbClr val="506352"/>
                </a:solidFill>
                <a:latin typeface="Liberation Sans"/>
                <a:ea typeface="Liberation Sans"/>
                <a:cs typeface="Liberation Sans"/>
              </a:rPr>
              <a:t>(Raf − alış) / alış × 100. Karar tam oranla verilir. Tam %50 sinyal üretmez.</a:t>
            </a:r>
          </a:p>
        </p:txBody>
      </p:sp>
      <p:sp>
        <p:nvSpPr>
          <p:cNvPr id="7" name="">
            <a:extLst xmlns:a="http://schemas.openxmlformats.org/drawingml/2006/main">
              <a:ext uri="{FF2B5EF4-FFF2-40B4-BE49-F238E27FC236}">
                <a16:creationId xmlns:a16="http://schemas.microsoft.com/office/drawing/2014/main" id="{3779A7FC-4DC7-4870-8BEE-F1B74AF099F9}"/>
              </a:ext>
            </a:extLst>
          </p:cNvPr>
          <p:cNvSpPr>
            <a:spLocks xmlns:a="http://schemas.openxmlformats.org/drawingml/2006/main" noGrp="1"/>
          </p:cNvSpPr>
          <p:nvPr/>
        </p:nvSpPr>
        <p:spPr>
          <a:xfrm xmlns:a="http://schemas.openxmlformats.org/drawingml/2006/main">
            <a:off x="11334750" y="65151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93B2B"/>
                </a:solidFill>
                <a:latin typeface="Liberation Sans"/>
                <a:ea typeface="Liberation Sans"/>
                <a:cs typeface="Liberation Sans"/>
              </a:defRPr>
            </a:pPr>
            <a:r>
              <a:rPr sz="1350" b="0">
                <a:solidFill>
                  <a:srgbClr val="193B2B"/>
                </a:solidFill>
                <a:latin typeface="Liberation Sans"/>
                <a:ea typeface="Liberation Sans"/>
                <a:cs typeface="Liberation Sans"/>
              </a:rPr>
              <a:t>07</a:t>
            </a:r>
          </a:p>
        </p:txBody>
      </p:sp>
    </p:spTree>
    <p:extLst>
      <p:ext uri="{BB962C8B-B14F-4D97-AF65-F5344CB8AC3E}">
        <p14:creationId xmlns:p14="http://schemas.microsoft.com/office/powerpoint/2010/main" val="35546761"/>
      </p:ext>
    </p:extLst>
  </p:cSld>
</p:sld>
</file>

<file path=ppt/slides/slide8.xml><?xml version="1.0" encoding="utf-8"?>
<p:sld xmlns:p="http://schemas.openxmlformats.org/presentationml/2006/main">
  <p:cSld>
    <p:bg>
      <p:bgPr>
        <a:solidFill xmlns:a="http://schemas.openxmlformats.org/drawingml/2006/main">
          <a:srgbClr val="F4F4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3D84046-3197-48C2-94E5-F7B4A6C819BE}"/>
              </a:ext>
            </a:extLst>
          </p:cNvPr>
          <p:cNvSpPr>
            <a:spLocks xmlns:a="http://schemas.openxmlformats.org/drawingml/2006/main" noGrp="1"/>
          </p:cNvSpPr>
          <p:nvPr/>
        </p:nvSpPr>
        <p:spPr>
          <a:xfrm xmlns:a="http://schemas.openxmlformats.org/drawingml/2006/main">
            <a:off x="619125" y="428625"/>
            <a:ext cx="10906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93B2B"/>
                </a:solidFill>
                <a:latin typeface="Liberation Sans"/>
                <a:ea typeface="Liberation Sans"/>
                <a:cs typeface="Liberation Sans"/>
              </a:defRPr>
            </a:pPr>
            <a:r>
              <a:rPr sz="3450" b="1">
                <a:solidFill>
                  <a:srgbClr val="193B2B"/>
                </a:solidFill>
                <a:latin typeface="Liberation Sans"/>
                <a:ea typeface="Liberation Sans"/>
                <a:cs typeface="Liberation Sans"/>
              </a:rPr>
              <a:t>İnceleme süreci</a:t>
            </a:r>
          </a:p>
        </p:txBody>
      </p:sp>
      <p:sp>
        <p:nvSpPr>
          <p:cNvPr id="2" name="">
            <a:extLst xmlns:a="http://schemas.openxmlformats.org/drawingml/2006/main">
              <a:ext uri="{FF2B5EF4-FFF2-40B4-BE49-F238E27FC236}">
                <a16:creationId xmlns:a16="http://schemas.microsoft.com/office/drawing/2014/main" id="{AD5C8313-273A-439B-8A20-514F2BB8A5F1}"/>
              </a:ext>
            </a:extLst>
          </p:cNvPr>
          <p:cNvSpPr>
            <a:spLocks xmlns:a="http://schemas.openxmlformats.org/drawingml/2006/main" noGrp="1"/>
          </p:cNvSpPr>
          <p:nvPr/>
        </p:nvSpPr>
        <p:spPr>
          <a:xfrm xmlns:a="http://schemas.openxmlformats.org/drawingml/2006/main">
            <a:off x="619125" y="1428750"/>
            <a:ext cx="1090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93B2B"/>
                </a:solidFill>
                <a:latin typeface="Liberation Sans"/>
                <a:ea typeface="Liberation Sans"/>
                <a:cs typeface="Liberation Sans"/>
              </a:defRPr>
            </a:pPr>
            <a:r>
              <a:rPr sz="2250" b="0">
                <a:solidFill>
                  <a:srgbClr val="193B2B"/>
                </a:solidFill>
                <a:latin typeface="Liberation Sans"/>
                <a:ea typeface="Liberation Sans"/>
                <a:cs typeface="Liberation Sans"/>
              </a:rPr>
              <a:t>Sinyal, insan incelemesine giriş sağlar</a:t>
            </a:r>
          </a:p>
        </p:txBody>
      </p:sp>
      <p:sp>
        <p:nvSpPr>
          <p:cNvPr id="3" name="">
            <a:extLst xmlns:a="http://schemas.openxmlformats.org/drawingml/2006/main">
              <a:ext uri="{FF2B5EF4-FFF2-40B4-BE49-F238E27FC236}">
                <a16:creationId xmlns:a16="http://schemas.microsoft.com/office/drawing/2014/main" id="{9C905A8F-DE93-4018-A648-3BA6FAD4E506}"/>
              </a:ext>
            </a:extLst>
          </p:cNvPr>
          <p:cNvSpPr>
            <a:spLocks xmlns:a="http://schemas.openxmlformats.org/drawingml/2006/main" noGrp="1"/>
          </p:cNvSpPr>
          <p:nvPr/>
        </p:nvSpPr>
        <p:spPr>
          <a:xfrm xmlns:a="http://schemas.openxmlformats.org/drawingml/2006/main">
            <a:off x="619125" y="2524125"/>
            <a:ext cx="1071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93B2B"/>
                </a:solidFill>
                <a:latin typeface="Liberation Sans"/>
                <a:ea typeface="Liberation Sans"/>
                <a:cs typeface="Liberation Sans"/>
              </a:defRPr>
            </a:pPr>
            <a:r>
              <a:rPr sz="2400" b="0">
                <a:solidFill>
                  <a:srgbClr val="193B2B"/>
                </a:solidFill>
                <a:latin typeface="Liberation Sans"/>
                <a:ea typeface="Liberation Sans"/>
                <a:cs typeface="Liberation Sans"/>
              </a:rPr>
              <a:t>Oracle hesabı önerir, chaincode özel girdilerden yeniden hesaplar.</a:t>
            </a:r>
          </a:p>
        </p:txBody>
      </p:sp>
      <p:sp>
        <p:nvSpPr>
          <p:cNvPr id="4" name="">
            <a:extLst xmlns:a="http://schemas.openxmlformats.org/drawingml/2006/main">
              <a:ext uri="{FF2B5EF4-FFF2-40B4-BE49-F238E27FC236}">
                <a16:creationId xmlns:a16="http://schemas.microsoft.com/office/drawing/2014/main" id="{44469502-F27F-4E8D-9681-B6A74702146B}"/>
              </a:ext>
            </a:extLst>
          </p:cNvPr>
          <p:cNvSpPr>
            <a:spLocks xmlns:a="http://schemas.openxmlformats.org/drawingml/2006/main" noGrp="1"/>
          </p:cNvSpPr>
          <p:nvPr/>
        </p:nvSpPr>
        <p:spPr>
          <a:xfrm xmlns:a="http://schemas.openxmlformats.org/drawingml/2006/main">
            <a:off x="619125" y="3524250"/>
            <a:ext cx="1071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93B2B"/>
                </a:solidFill>
                <a:latin typeface="Liberation Sans"/>
                <a:ea typeface="Liberation Sans"/>
                <a:cs typeface="Liberation Sans"/>
              </a:defRPr>
            </a:pPr>
            <a:r>
              <a:rPr sz="2400" b="0">
                <a:solidFill>
                  <a:srgbClr val="193B2B"/>
                </a:solidFill>
                <a:latin typeface="Liberation Sans"/>
                <a:ea typeface="Liberation Sans"/>
                <a:cs typeface="Liberation Sans"/>
              </a:rPr>
              <a:t>Yetkili incelemeci kaydı açar ve gerekçeli sonuç ekler.</a:t>
            </a:r>
          </a:p>
        </p:txBody>
      </p:sp>
      <p:sp>
        <p:nvSpPr>
          <p:cNvPr id="5" name="">
            <a:extLst xmlns:a="http://schemas.openxmlformats.org/drawingml/2006/main">
              <a:ext uri="{FF2B5EF4-FFF2-40B4-BE49-F238E27FC236}">
                <a16:creationId xmlns:a16="http://schemas.microsoft.com/office/drawing/2014/main" id="{84247306-C1EC-4BF6-BC99-C36926A826D3}"/>
              </a:ext>
            </a:extLst>
          </p:cNvPr>
          <p:cNvSpPr>
            <a:spLocks xmlns:a="http://schemas.openxmlformats.org/drawingml/2006/main" noGrp="1"/>
          </p:cNvSpPr>
          <p:nvPr/>
        </p:nvSpPr>
        <p:spPr>
          <a:xfrm xmlns:a="http://schemas.openxmlformats.org/drawingml/2006/main">
            <a:off x="619125" y="4524375"/>
            <a:ext cx="1071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93B2B"/>
                </a:solidFill>
                <a:latin typeface="Liberation Sans"/>
                <a:ea typeface="Liberation Sans"/>
                <a:cs typeface="Liberation Sans"/>
              </a:defRPr>
            </a:pPr>
            <a:r>
              <a:rPr sz="2400" b="0">
                <a:solidFill>
                  <a:srgbClr val="193B2B"/>
                </a:solidFill>
                <a:latin typeface="Liberation Sans"/>
                <a:ea typeface="Liberation Sans"/>
                <a:cs typeface="Liberation Sans"/>
              </a:rPr>
              <a:t>Özgün hesap ve sınıflandırma korunur.</a:t>
            </a:r>
          </a:p>
        </p:txBody>
      </p:sp>
      <p:sp>
        <p:nvSpPr>
          <p:cNvPr id="6" name="">
            <a:extLst xmlns:a="http://schemas.openxmlformats.org/drawingml/2006/main">
              <a:ext uri="{FF2B5EF4-FFF2-40B4-BE49-F238E27FC236}">
                <a16:creationId xmlns:a16="http://schemas.microsoft.com/office/drawing/2014/main" id="{83337DFB-6615-4DD8-A779-36B68C390405}"/>
              </a:ext>
            </a:extLst>
          </p:cNvPr>
          <p:cNvSpPr>
            <a:spLocks xmlns:a="http://schemas.openxmlformats.org/drawingml/2006/main" noGrp="1"/>
          </p:cNvSpPr>
          <p:nvPr/>
        </p:nvSpPr>
        <p:spPr>
          <a:xfrm xmlns:a="http://schemas.openxmlformats.org/drawingml/2006/main">
            <a:off x="619125" y="6000750"/>
            <a:ext cx="1090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06352"/>
                </a:solidFill>
                <a:latin typeface="Liberation Sans"/>
                <a:ea typeface="Liberation Sans"/>
                <a:cs typeface="Liberation Sans"/>
              </a:defRPr>
            </a:pPr>
            <a:r>
              <a:rPr sz="1575" b="0">
                <a:solidFill>
                  <a:srgbClr val="506352"/>
                </a:solidFill>
                <a:latin typeface="Liberation Sans"/>
                <a:ea typeface="Liberation Sans"/>
                <a:cs typeface="Liberation Sans"/>
              </a:rPr>
              <a:t>Pilot eşiği yasal sınır değildir. Sinyal, hile veya ihlal kanıtı değildir.</a:t>
            </a:r>
          </a:p>
        </p:txBody>
      </p:sp>
      <p:sp>
        <p:nvSpPr>
          <p:cNvPr id="7" name="">
            <a:extLst xmlns:a="http://schemas.openxmlformats.org/drawingml/2006/main">
              <a:ext uri="{FF2B5EF4-FFF2-40B4-BE49-F238E27FC236}">
                <a16:creationId xmlns:a16="http://schemas.microsoft.com/office/drawing/2014/main" id="{77FE749C-D4EE-4EDF-90DB-AF49D8971C91}"/>
              </a:ext>
            </a:extLst>
          </p:cNvPr>
          <p:cNvSpPr>
            <a:spLocks xmlns:a="http://schemas.openxmlformats.org/drawingml/2006/main" noGrp="1"/>
          </p:cNvSpPr>
          <p:nvPr/>
        </p:nvSpPr>
        <p:spPr>
          <a:xfrm xmlns:a="http://schemas.openxmlformats.org/drawingml/2006/main">
            <a:off x="11334750" y="65151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93B2B"/>
                </a:solidFill>
                <a:latin typeface="Liberation Sans"/>
                <a:ea typeface="Liberation Sans"/>
                <a:cs typeface="Liberation Sans"/>
              </a:defRPr>
            </a:pPr>
            <a:r>
              <a:rPr sz="1350" b="0">
                <a:solidFill>
                  <a:srgbClr val="193B2B"/>
                </a:solidFill>
                <a:latin typeface="Liberation Sans"/>
                <a:ea typeface="Liberation Sans"/>
                <a:cs typeface="Liberation Sans"/>
              </a:rPr>
              <a:t>08</a:t>
            </a:r>
          </a:p>
        </p:txBody>
      </p:sp>
    </p:spTree>
    <p:extLst>
      <p:ext uri="{BB962C8B-B14F-4D97-AF65-F5344CB8AC3E}">
        <p14:creationId xmlns:p14="http://schemas.microsoft.com/office/powerpoint/2010/main" val="1406455389"/>
      </p:ext>
    </p:extLst>
  </p:cSld>
</p:sld>
</file>

<file path=ppt/slides/slide9.xml><?xml version="1.0" encoding="utf-8"?>
<p:sld xmlns:p="http://schemas.openxmlformats.org/presentationml/2006/main">
  <p:cSld>
    <p:bg>
      <p:bgPr>
        <a:solidFill xmlns:a="http://schemas.openxmlformats.org/drawingml/2006/main">
          <a:srgbClr val="F4F4E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0A5A8CC-9F31-43D3-9799-7B3D2A08C760}"/>
              </a:ext>
            </a:extLst>
          </p:cNvPr>
          <p:cNvSpPr>
            <a:spLocks xmlns:a="http://schemas.openxmlformats.org/drawingml/2006/main" noGrp="1"/>
          </p:cNvSpPr>
          <p:nvPr/>
        </p:nvSpPr>
        <p:spPr>
          <a:xfrm xmlns:a="http://schemas.openxmlformats.org/drawingml/2006/main">
            <a:off x="619125" y="428625"/>
            <a:ext cx="10906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93B2B"/>
                </a:solidFill>
                <a:latin typeface="Liberation Sans"/>
                <a:ea typeface="Liberation Sans"/>
                <a:cs typeface="Liberation Sans"/>
              </a:defRPr>
            </a:pPr>
            <a:r>
              <a:rPr sz="3450" b="1">
                <a:solidFill>
                  <a:srgbClr val="193B2B"/>
                </a:solidFill>
                <a:latin typeface="Liberation Sans"/>
                <a:ea typeface="Liberation Sans"/>
                <a:cs typeface="Liberation Sans"/>
              </a:rPr>
              <a:t>Tüketici QR görünümü</a:t>
            </a:r>
          </a:p>
        </p:txBody>
      </p:sp>
      <p:sp>
        <p:nvSpPr>
          <p:cNvPr id="2" name="">
            <a:extLst xmlns:a="http://schemas.openxmlformats.org/drawingml/2006/main">
              <a:ext uri="{FF2B5EF4-FFF2-40B4-BE49-F238E27FC236}">
                <a16:creationId xmlns:a16="http://schemas.microsoft.com/office/drawing/2014/main" id="{C1489687-AC27-4F45-BD39-9090460DF4D9}"/>
              </a:ext>
            </a:extLst>
          </p:cNvPr>
          <p:cNvSpPr>
            <a:spLocks xmlns:a="http://schemas.openxmlformats.org/drawingml/2006/main" noGrp="1"/>
          </p:cNvSpPr>
          <p:nvPr/>
        </p:nvSpPr>
        <p:spPr>
          <a:xfrm xmlns:a="http://schemas.openxmlformats.org/drawingml/2006/main">
            <a:off x="619125" y="1428750"/>
            <a:ext cx="1090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93B2B"/>
                </a:solidFill>
                <a:latin typeface="Liberation Sans"/>
                <a:ea typeface="Liberation Sans"/>
                <a:cs typeface="Liberation Sans"/>
              </a:defRPr>
            </a:pPr>
            <a:r>
              <a:rPr sz="2250" b="0">
                <a:solidFill>
                  <a:srgbClr val="193B2B"/>
                </a:solidFill>
                <a:latin typeface="Liberation Sans"/>
                <a:ea typeface="Liberation Sans"/>
                <a:cs typeface="Liberation Sans"/>
              </a:rPr>
              <a:t>Kaynak ve teslim geçmişi</a:t>
            </a:r>
          </a:p>
        </p:txBody>
      </p:sp>
      <p:sp>
        <p:nvSpPr>
          <p:cNvPr id="3" name="">
            <a:extLst xmlns:a="http://schemas.openxmlformats.org/drawingml/2006/main">
              <a:ext uri="{FF2B5EF4-FFF2-40B4-BE49-F238E27FC236}">
                <a16:creationId xmlns:a16="http://schemas.microsoft.com/office/drawing/2014/main" id="{C55C6731-0793-4659-B824-1E8F42B6C4B1}"/>
              </a:ext>
            </a:extLst>
          </p:cNvPr>
          <p:cNvSpPr>
            <a:spLocks xmlns:a="http://schemas.openxmlformats.org/drawingml/2006/main" noGrp="1"/>
          </p:cNvSpPr>
          <p:nvPr/>
        </p:nvSpPr>
        <p:spPr>
          <a:xfrm xmlns:a="http://schemas.openxmlformats.org/drawingml/2006/main">
            <a:off x="619125" y="2524125"/>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93B2B"/>
                </a:solidFill>
                <a:latin typeface="Liberation Sans"/>
                <a:ea typeface="Liberation Sans"/>
                <a:cs typeface="Liberation Sans"/>
              </a:defRPr>
            </a:pPr>
            <a:r>
              <a:rPr sz="2250" b="0">
                <a:solidFill>
                  <a:srgbClr val="193B2B"/>
                </a:solidFill>
                <a:latin typeface="Liberation Sans"/>
                <a:ea typeface="Liberation Sans"/>
                <a:cs typeface="Liberation Sans"/>
              </a:rPr>
              <a:t>Oturum açmadan ürünün kaydına erişim.</a:t>
            </a:r>
          </a:p>
        </p:txBody>
      </p:sp>
      <p:sp>
        <p:nvSpPr>
          <p:cNvPr id="4" name="">
            <a:extLst xmlns:a="http://schemas.openxmlformats.org/drawingml/2006/main">
              <a:ext uri="{FF2B5EF4-FFF2-40B4-BE49-F238E27FC236}">
                <a16:creationId xmlns:a16="http://schemas.microsoft.com/office/drawing/2014/main" id="{28A154B1-AE5E-4131-A3F2-F38CAA4C4860}"/>
              </a:ext>
            </a:extLst>
          </p:cNvPr>
          <p:cNvSpPr>
            <a:spLocks xmlns:a="http://schemas.openxmlformats.org/drawingml/2006/main" noGrp="1"/>
          </p:cNvSpPr>
          <p:nvPr/>
        </p:nvSpPr>
        <p:spPr>
          <a:xfrm xmlns:a="http://schemas.openxmlformats.org/drawingml/2006/main">
            <a:off x="619125" y="3571875"/>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93B2B"/>
                </a:solidFill>
                <a:latin typeface="Liberation Sans"/>
                <a:ea typeface="Liberation Sans"/>
                <a:cs typeface="Liberation Sans"/>
              </a:defRPr>
            </a:pPr>
            <a:r>
              <a:rPr sz="2250" b="0">
                <a:solidFill>
                  <a:srgbClr val="193B2B"/>
                </a:solidFill>
                <a:latin typeface="Liberation Sans"/>
                <a:ea typeface="Liberation Sans"/>
                <a:cs typeface="Liberation Sans"/>
              </a:rPr>
              <a:t>Hasat, miktar ve teslim adımları.</a:t>
            </a:r>
          </a:p>
        </p:txBody>
      </p:sp>
      <p:sp>
        <p:nvSpPr>
          <p:cNvPr id="5" name="">
            <a:extLst xmlns:a="http://schemas.openxmlformats.org/drawingml/2006/main">
              <a:ext uri="{FF2B5EF4-FFF2-40B4-BE49-F238E27FC236}">
                <a16:creationId xmlns:a16="http://schemas.microsoft.com/office/drawing/2014/main" id="{DDC482B6-C838-46B0-B383-6D33C596C178}"/>
              </a:ext>
            </a:extLst>
          </p:cNvPr>
          <p:cNvSpPr>
            <a:spLocks xmlns:a="http://schemas.openxmlformats.org/drawingml/2006/main" noGrp="1"/>
          </p:cNvSpPr>
          <p:nvPr/>
        </p:nvSpPr>
        <p:spPr>
          <a:xfrm xmlns:a="http://schemas.openxmlformats.org/drawingml/2006/main">
            <a:off x="619125" y="4619625"/>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93B2B"/>
                </a:solidFill>
                <a:latin typeface="Liberation Sans"/>
                <a:ea typeface="Liberation Sans"/>
                <a:cs typeface="Liberation Sans"/>
              </a:defRPr>
            </a:pPr>
            <a:r>
              <a:rPr sz="2250" b="0">
                <a:solidFill>
                  <a:srgbClr val="193B2B"/>
                </a:solidFill>
                <a:latin typeface="Liberation Sans"/>
                <a:ea typeface="Liberation Sans"/>
                <a:cs typeface="Liberation Sans"/>
              </a:rPr>
              <a:t>Özel fiyat ve inceleme metni yanıtta bulunmaz.</a:t>
            </a:r>
          </a:p>
        </p:txBody>
      </p:sp>
      <p:sp>
        <p:nvSpPr>
          <p:cNvPr id="6" name="">
            <a:extLst xmlns:a="http://schemas.openxmlformats.org/drawingml/2006/main">
              <a:ext uri="{FF2B5EF4-FFF2-40B4-BE49-F238E27FC236}">
                <a16:creationId xmlns:a16="http://schemas.microsoft.com/office/drawing/2014/main" id="{0C32A72D-BBD5-4D88-ACD2-EE6A50B7E4C2}"/>
              </a:ext>
            </a:extLst>
          </p:cNvPr>
          <p:cNvSpPr>
            <a:spLocks xmlns:a="http://schemas.openxmlformats.org/drawingml/2006/main" noGrp="1"/>
          </p:cNvSpPr>
          <p:nvPr/>
        </p:nvSpPr>
        <p:spPr>
          <a:xfrm xmlns:a="http://schemas.openxmlformats.org/drawingml/2006/main">
            <a:off x="6667500" y="252412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93B2B"/>
                </a:solidFill>
                <a:latin typeface="Liberation Sans"/>
                <a:ea typeface="Liberation Sans"/>
                <a:cs typeface="Liberation Sans"/>
              </a:defRPr>
            </a:pPr>
            <a:r>
              <a:rPr sz="2100" b="1">
                <a:solidFill>
                  <a:srgbClr val="193B2B"/>
                </a:solidFill>
                <a:latin typeface="Liberation Sans"/>
                <a:ea typeface="Liberation Sans"/>
                <a:cs typeface="Liberation Sans"/>
              </a:rPr>
              <a:t>LOT-DEMONORMAL01</a:t>
            </a:r>
          </a:p>
        </p:txBody>
      </p:sp>
      <p:sp>
        <p:nvSpPr>
          <p:cNvPr id="7" name="">
            <a:extLst xmlns:a="http://schemas.openxmlformats.org/drawingml/2006/main">
              <a:ext uri="{FF2B5EF4-FFF2-40B4-BE49-F238E27FC236}">
                <a16:creationId xmlns:a16="http://schemas.microsoft.com/office/drawing/2014/main" id="{BB1E33ED-47D3-408D-815C-9E92CFD961EE}"/>
              </a:ext>
            </a:extLst>
          </p:cNvPr>
          <p:cNvSpPr>
            <a:spLocks xmlns:a="http://schemas.openxmlformats.org/drawingml/2006/main" noGrp="1"/>
          </p:cNvSpPr>
          <p:nvPr/>
        </p:nvSpPr>
        <p:spPr>
          <a:xfrm xmlns:a="http://schemas.openxmlformats.org/drawingml/2006/main">
            <a:off x="6667500" y="319087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93B2B"/>
                </a:solidFill>
                <a:latin typeface="Liberation Sans"/>
                <a:ea typeface="Liberation Sans"/>
                <a:cs typeface="Liberation Sans"/>
              </a:defRPr>
            </a:pPr>
            <a:r>
              <a:rPr sz="2100" b="0">
                <a:solidFill>
                  <a:srgbClr val="193B2B"/>
                </a:solidFill>
                <a:latin typeface="Liberation Sans"/>
                <a:ea typeface="Liberation Sans"/>
                <a:cs typeface="Liberation Sans"/>
              </a:rPr>
              <a:t>Domates / Antalya</a:t>
            </a:r>
          </a:p>
          <a:p xmlns:a="http://schemas.openxmlformats.org/drawingml/2006/main">
            <a:pPr>
              <a:defRPr sz="2100" b="0">
                <a:solidFill>
                  <a:srgbClr val="193B2B"/>
                </a:solidFill>
                <a:latin typeface="Liberation Sans"/>
                <a:ea typeface="Liberation Sans"/>
                <a:cs typeface="Liberation Sans"/>
              </a:defRPr>
            </a:pPr>
            <a:r>
              <a:rPr sz="2100" b="0">
                <a:solidFill>
                  <a:srgbClr val="193B2B"/>
                </a:solidFill>
                <a:latin typeface="Liberation Sans"/>
                <a:ea typeface="Liberation Sans"/>
                <a:cs typeface="Liberation Sans"/>
              </a:rPr>
              <a:t>100 kg / Hasat: 15.09.2026</a:t>
            </a:r>
          </a:p>
        </p:txBody>
      </p:sp>
      <p:sp>
        <p:nvSpPr>
          <p:cNvPr id="8" name="">
            <a:extLst xmlns:a="http://schemas.openxmlformats.org/drawingml/2006/main">
              <a:ext uri="{FF2B5EF4-FFF2-40B4-BE49-F238E27FC236}">
                <a16:creationId xmlns:a16="http://schemas.microsoft.com/office/drawing/2014/main" id="{804341C0-3504-4A81-848D-9917E10E0780}"/>
              </a:ext>
            </a:extLst>
          </p:cNvPr>
          <p:cNvSpPr>
            <a:spLocks xmlns:a="http://schemas.openxmlformats.org/drawingml/2006/main" noGrp="1"/>
          </p:cNvSpPr>
          <p:nvPr/>
        </p:nvSpPr>
        <p:spPr>
          <a:xfrm xmlns:a="http://schemas.openxmlformats.org/drawingml/2006/main">
            <a:off x="6667500" y="42386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93B2B"/>
                </a:solidFill>
                <a:latin typeface="Liberation Sans"/>
                <a:ea typeface="Liberation Sans"/>
                <a:cs typeface="Liberation Sans"/>
              </a:defRPr>
            </a:pPr>
            <a:r>
              <a:rPr sz="2100" b="1">
                <a:solidFill>
                  <a:srgbClr val="193B2B"/>
                </a:solidFill>
                <a:latin typeface="Liberation Sans"/>
                <a:ea typeface="Liberation Sans"/>
                <a:cs typeface="Liberation Sans"/>
              </a:rPr>
              <a:t>Üretici kaydı</a:t>
            </a:r>
          </a:p>
          <a:p xmlns:a="http://schemas.openxmlformats.org/drawingml/2006/main">
            <a:pPr>
              <a:defRPr sz="2100" b="1">
                <a:solidFill>
                  <a:srgbClr val="193B2B"/>
                </a:solidFill>
                <a:latin typeface="Liberation Sans"/>
                <a:ea typeface="Liberation Sans"/>
                <a:cs typeface="Liberation Sans"/>
              </a:defRPr>
            </a:pPr>
            <a:r>
              <a:rPr sz="2100" b="1">
                <a:solidFill>
                  <a:srgbClr val="193B2B"/>
                </a:solidFill>
                <a:latin typeface="Liberation Sans"/>
                <a:ea typeface="Liberation Sans"/>
                <a:cs typeface="Liberation Sans"/>
              </a:rPr>
              <a:t>Taşıyıcı kabulü</a:t>
            </a:r>
          </a:p>
          <a:p xmlns:a="http://schemas.openxmlformats.org/drawingml/2006/main">
            <a:pPr>
              <a:defRPr sz="2100" b="1">
                <a:solidFill>
                  <a:srgbClr val="193B2B"/>
                </a:solidFill>
                <a:latin typeface="Liberation Sans"/>
                <a:ea typeface="Liberation Sans"/>
                <a:cs typeface="Liberation Sans"/>
              </a:defRPr>
            </a:pPr>
            <a:r>
              <a:rPr sz="2100" b="1">
                <a:solidFill>
                  <a:srgbClr val="193B2B"/>
                </a:solidFill>
                <a:latin typeface="Liberation Sans"/>
                <a:ea typeface="Liberation Sans"/>
                <a:cs typeface="Liberation Sans"/>
              </a:rPr>
              <a:t>Perakendeci kabulü</a:t>
            </a:r>
          </a:p>
        </p:txBody>
      </p:sp>
      <p:sp>
        <p:nvSpPr>
          <p:cNvPr id="9" name="">
            <a:extLst xmlns:a="http://schemas.openxmlformats.org/drawingml/2006/main">
              <a:ext uri="{FF2B5EF4-FFF2-40B4-BE49-F238E27FC236}">
                <a16:creationId xmlns:a16="http://schemas.microsoft.com/office/drawing/2014/main" id="{5CAE5A8C-F7F0-4398-8A66-AE00D4E95DCC}"/>
              </a:ext>
            </a:extLst>
          </p:cNvPr>
          <p:cNvSpPr>
            <a:spLocks xmlns:a="http://schemas.openxmlformats.org/drawingml/2006/main" noGrp="1"/>
          </p:cNvSpPr>
          <p:nvPr/>
        </p:nvSpPr>
        <p:spPr>
          <a:xfrm xmlns:a="http://schemas.openxmlformats.org/drawingml/2006/main">
            <a:off x="619125" y="6000750"/>
            <a:ext cx="1090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06352"/>
                </a:solidFill>
                <a:latin typeface="Liberation Sans"/>
                <a:ea typeface="Liberation Sans"/>
                <a:cs typeface="Liberation Sans"/>
              </a:defRPr>
            </a:pPr>
            <a:r>
              <a:rPr sz="1575" b="0">
                <a:solidFill>
                  <a:srgbClr val="506352"/>
                </a:solidFill>
                <a:latin typeface="Liberation Sans"/>
                <a:ea typeface="Liberation Sans"/>
                <a:cs typeface="Liberation Sans"/>
              </a:rPr>
              <a:t>QR yerelde üretilir. Telefon için erişilebilir yerel ağ adresi ayrıca ayarlanır.</a:t>
            </a:r>
          </a:p>
        </p:txBody>
      </p:sp>
      <p:sp>
        <p:nvSpPr>
          <p:cNvPr id="10" name="">
            <a:extLst xmlns:a="http://schemas.openxmlformats.org/drawingml/2006/main">
              <a:ext uri="{FF2B5EF4-FFF2-40B4-BE49-F238E27FC236}">
                <a16:creationId xmlns:a16="http://schemas.microsoft.com/office/drawing/2014/main" id="{AC631DFD-AC20-45A9-A0AD-5E436E861708}"/>
              </a:ext>
            </a:extLst>
          </p:cNvPr>
          <p:cNvSpPr>
            <a:spLocks xmlns:a="http://schemas.openxmlformats.org/drawingml/2006/main" noGrp="1"/>
          </p:cNvSpPr>
          <p:nvPr/>
        </p:nvSpPr>
        <p:spPr>
          <a:xfrm xmlns:a="http://schemas.openxmlformats.org/drawingml/2006/main">
            <a:off x="11334750" y="65151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93B2B"/>
                </a:solidFill>
                <a:latin typeface="Liberation Sans"/>
                <a:ea typeface="Liberation Sans"/>
                <a:cs typeface="Liberation Sans"/>
              </a:defRPr>
            </a:pPr>
            <a:r>
              <a:rPr sz="1350" b="0">
                <a:solidFill>
                  <a:srgbClr val="193B2B"/>
                </a:solidFill>
                <a:latin typeface="Liberation Sans"/>
                <a:ea typeface="Liberation Sans"/>
                <a:cs typeface="Liberation Sans"/>
              </a:rPr>
              <a:t>09</a:t>
            </a:r>
          </a:p>
        </p:txBody>
      </p:sp>
    </p:spTree>
    <p:extLst>
      <p:ext uri="{BB962C8B-B14F-4D97-AF65-F5344CB8AC3E}">
        <p14:creationId xmlns:p14="http://schemas.microsoft.com/office/powerpoint/2010/main" val="1282218810"/>
      </p:ext>
    </p:extLst>
  </p:cSld>
</p:sld>
</file>

<file path=ppt/slides/slide10.xml><?xml version="1.0" encoding="utf-8"?>
<p:sld xmlns:p="http://schemas.openxmlformats.org/presentationml/2006/main">
  <p:cSld>
    <p:bg>
      <p:bgPr>
        <a:solidFill xmlns:a="http://schemas.openxmlformats.org/drawingml/2006/main">
          <a:srgbClr val="F4F4E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F015278-B51A-4790-88EC-99363AD966E8}"/>
              </a:ext>
            </a:extLst>
          </p:cNvPr>
          <p:cNvSpPr>
            <a:spLocks xmlns:a="http://schemas.openxmlformats.org/drawingml/2006/main" noGrp="1"/>
          </p:cNvSpPr>
          <p:nvPr/>
        </p:nvSpPr>
        <p:spPr>
          <a:xfrm xmlns:a="http://schemas.openxmlformats.org/drawingml/2006/main">
            <a:off x="619125" y="428625"/>
            <a:ext cx="10906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93B2B"/>
                </a:solidFill>
                <a:latin typeface="Liberation Sans"/>
                <a:ea typeface="Liberation Sans"/>
                <a:cs typeface="Liberation Sans"/>
              </a:defRPr>
            </a:pPr>
            <a:r>
              <a:rPr sz="3450" b="1">
                <a:solidFill>
                  <a:srgbClr val="193B2B"/>
                </a:solidFill>
                <a:latin typeface="Liberation Sans"/>
                <a:ea typeface="Liberation Sans"/>
                <a:cs typeface="Liberation Sans"/>
              </a:rPr>
              <a:t>Test ve ölçüm kanıtı</a:t>
            </a:r>
          </a:p>
        </p:txBody>
      </p:sp>
      <p:sp>
        <p:nvSpPr>
          <p:cNvPr id="2" name="">
            <a:extLst xmlns:a="http://schemas.openxmlformats.org/drawingml/2006/main">
              <a:ext uri="{FF2B5EF4-FFF2-40B4-BE49-F238E27FC236}">
                <a16:creationId xmlns:a16="http://schemas.microsoft.com/office/drawing/2014/main" id="{E25AF51E-440D-46EA-8B31-76616D83EC50}"/>
              </a:ext>
            </a:extLst>
          </p:cNvPr>
          <p:cNvSpPr>
            <a:spLocks xmlns:a="http://schemas.openxmlformats.org/drawingml/2006/main" noGrp="1"/>
          </p:cNvSpPr>
          <p:nvPr/>
        </p:nvSpPr>
        <p:spPr>
          <a:xfrm xmlns:a="http://schemas.openxmlformats.org/drawingml/2006/main">
            <a:off x="619125" y="1428750"/>
            <a:ext cx="1090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93B2B"/>
                </a:solidFill>
                <a:latin typeface="Liberation Sans"/>
                <a:ea typeface="Liberation Sans"/>
                <a:cs typeface="Liberation Sans"/>
              </a:defRPr>
            </a:pPr>
            <a:r>
              <a:rPr sz="2250" b="0">
                <a:solidFill>
                  <a:srgbClr val="193B2B"/>
                </a:solidFill>
                <a:latin typeface="Liberation Sans"/>
                <a:ea typeface="Liberation Sans"/>
                <a:cs typeface="Liberation Sans"/>
              </a:rPr>
              <a:t>Tek makine, sıralı pilot ölçümü</a:t>
            </a:r>
          </a:p>
        </p:txBody>
      </p:sp>
      <p:graphicFrame>
        <p:nvGraphicFramePr>
          <p:cNvPr id="9" name=""/>
          <p:cNvGraphicFramePr/>
          <p:nvPr/>
        </p:nvGraphicFramePr>
        <p:xfrm>
          <a:off xmlns:a="http://schemas.openxmlformats.org/drawingml/2006/main" x="619125" y="2476500"/>
          <a:ext xmlns:a="http://schemas.openxmlformats.org/drawingml/2006/main" cx="10953750" cy="2438400"/>
        </p:xfrm>
        <a:graphic xmlns:a="http://schemas.openxmlformats.org/drawingml/2006/main">
          <a:graphicData uri="http://schemas.openxmlformats.org/drawingml/2006/table">
            <a:tbl>
              <a:tblPr/>
              <a:tblGrid>
                <a:gridCol w="4810125"/>
                <a:gridCol w="904875"/>
                <a:gridCol w="2619375"/>
                <a:gridCol w="2619375"/>
              </a:tblGrid>
              <a:tr h="609600">
                <a:tc>
                  <a:txBody>
                    <a:bodyPr/>
                    <a:lstStyle/>
                    <a:p>
                      <a:r>
                        <a:rPr sz="1875" b="1">
                          <a:solidFill>
                            <a:srgbClr val="FFFFFF"/>
                          </a:solidFill>
                          <a:latin typeface="Liberation Sans"/>
                          <a:ea typeface="Liberation Sans"/>
                          <a:cs typeface="Liberation Sans"/>
                        </a:rPr>
                        <a:t>Aşama 7 ölçümü</a:t>
                      </a:r>
                    </a:p>
                  </a:txBody>
                  <a:tcPr marL="91440" marR="91440" marT="45720" marB="45720">
                    <a:solidFill>
                      <a:srgbClr val="23543B"/>
                    </a:solidFill>
                  </a:tcPr>
                </a:tc>
                <a:tc>
                  <a:txBody>
                    <a:bodyPr/>
                    <a:lstStyle/>
                    <a:p>
                      <a:r>
                        <a:rPr sz="1875" b="1">
                          <a:solidFill>
                            <a:srgbClr val="FFFFFF"/>
                          </a:solidFill>
                          <a:latin typeface="Liberation Sans"/>
                          <a:ea typeface="Liberation Sans"/>
                          <a:cs typeface="Liberation Sans"/>
                        </a:rPr>
                        <a:t>n</a:t>
                      </a:r>
                    </a:p>
                  </a:txBody>
                  <a:tcPr marL="91440" marR="91440" marT="45720" marB="45720">
                    <a:solidFill>
                      <a:srgbClr val="23543B"/>
                    </a:solidFill>
                  </a:tcPr>
                </a:tc>
                <a:tc>
                  <a:txBody>
                    <a:bodyPr/>
                    <a:lstStyle/>
                    <a:p>
                      <a:r>
                        <a:rPr sz="1875" b="1">
                          <a:solidFill>
                            <a:srgbClr val="FFFFFF"/>
                          </a:solidFill>
                          <a:latin typeface="Liberation Sans"/>
                          <a:ea typeface="Liberation Sans"/>
                          <a:cs typeface="Liberation Sans"/>
                        </a:rPr>
                        <a:t>Medyan</a:t>
                      </a:r>
                    </a:p>
                  </a:txBody>
                  <a:tcPr marL="91440" marR="91440" marT="45720" marB="45720">
                    <a:solidFill>
                      <a:srgbClr val="23543B"/>
                    </a:solidFill>
                  </a:tcPr>
                </a:tc>
                <a:tc>
                  <a:txBody>
                    <a:bodyPr/>
                    <a:lstStyle/>
                    <a:p>
                      <a:r>
                        <a:rPr sz="1875" b="1">
                          <a:solidFill>
                            <a:srgbClr val="FFFFFF"/>
                          </a:solidFill>
                          <a:latin typeface="Liberation Sans"/>
                          <a:ea typeface="Liberation Sans"/>
                          <a:cs typeface="Liberation Sans"/>
                        </a:rPr>
                        <a:t>p95</a:t>
                      </a:r>
                    </a:p>
                  </a:txBody>
                  <a:tcPr marL="91440" marR="91440" marT="45720" marB="45720">
                    <a:solidFill>
                      <a:srgbClr val="23543B"/>
                    </a:solidFill>
                  </a:tcPr>
                </a:tc>
              </a:tr>
              <a:tr h="609600">
                <a:tc>
                  <a:txBody>
                    <a:bodyPr/>
                    <a:lstStyle/>
                    <a:p>
                      <a:r>
                        <a:rPr sz="1875" b="0">
                          <a:solidFill>
                            <a:srgbClr val="193B2B"/>
                          </a:solidFill>
                          <a:latin typeface="Liberation Sans"/>
                          <a:ea typeface="Liberation Sans"/>
                          <a:cs typeface="Liberation Sans"/>
                        </a:rPr>
                        <a:t>Gateway → VALID</a:t>
                      </a:r>
                    </a:p>
                  </a:txBody>
                  <a:tcPr marL="91440" marR="91440" marT="45720" marB="45720">
                    <a:solidFill>
                      <a:srgbClr val="F4F4EB"/>
                    </a:solidFill>
                  </a:tcPr>
                </a:tc>
                <a:tc>
                  <a:txBody>
                    <a:bodyPr/>
                    <a:lstStyle/>
                    <a:p>
                      <a:r>
                        <a:rPr sz="1875" b="0">
                          <a:solidFill>
                            <a:srgbClr val="193B2B"/>
                          </a:solidFill>
                          <a:latin typeface="Liberation Sans"/>
                          <a:ea typeface="Liberation Sans"/>
                          <a:cs typeface="Liberation Sans"/>
                        </a:rPr>
                        <a:t>30</a:t>
                      </a:r>
                    </a:p>
                  </a:txBody>
                  <a:tcPr marL="91440" marR="91440" marT="45720" marB="45720">
                    <a:solidFill>
                      <a:srgbClr val="F4F4EB"/>
                    </a:solidFill>
                  </a:tcPr>
                </a:tc>
                <a:tc>
                  <a:txBody>
                    <a:bodyPr/>
                    <a:lstStyle/>
                    <a:p>
                      <a:r>
                        <a:rPr sz="1875" b="0">
                          <a:solidFill>
                            <a:srgbClr val="193B2B"/>
                          </a:solidFill>
                          <a:latin typeface="Liberation Sans"/>
                          <a:ea typeface="Liberation Sans"/>
                          <a:cs typeface="Liberation Sans"/>
                        </a:rPr>
                        <a:t>2.022 ms</a:t>
                      </a:r>
                    </a:p>
                  </a:txBody>
                  <a:tcPr marL="91440" marR="91440" marT="45720" marB="45720">
                    <a:solidFill>
                      <a:srgbClr val="F4F4EB"/>
                    </a:solidFill>
                  </a:tcPr>
                </a:tc>
                <a:tc>
                  <a:txBody>
                    <a:bodyPr/>
                    <a:lstStyle/>
                    <a:p>
                      <a:r>
                        <a:rPr sz="1875" b="0">
                          <a:solidFill>
                            <a:srgbClr val="193B2B"/>
                          </a:solidFill>
                          <a:latin typeface="Liberation Sans"/>
                          <a:ea typeface="Liberation Sans"/>
                          <a:cs typeface="Liberation Sans"/>
                        </a:rPr>
                        <a:t>2.043 ms</a:t>
                      </a:r>
                    </a:p>
                  </a:txBody>
                  <a:tcPr marL="91440" marR="91440" marT="45720" marB="45720">
                    <a:solidFill>
                      <a:srgbClr val="F4F4EB"/>
                    </a:solidFill>
                  </a:tcPr>
                </a:tc>
              </a:tr>
              <a:tr h="609600">
                <a:tc>
                  <a:txBody>
                    <a:bodyPr/>
                    <a:lstStyle/>
                    <a:p>
                      <a:r>
                        <a:rPr sz="1875" b="0">
                          <a:solidFill>
                            <a:srgbClr val="193B2B"/>
                          </a:solidFill>
                          <a:latin typeface="Liberation Sans"/>
                          <a:ea typeface="Liberation Sans"/>
                          <a:cs typeface="Liberation Sans"/>
                        </a:rPr>
                        <a:t>Ortak sorgu</a:t>
                      </a:r>
                    </a:p>
                  </a:txBody>
                  <a:tcPr marL="91440" marR="91440" marT="45720" marB="45720">
                    <a:solidFill>
                      <a:srgbClr val="F4F4EB"/>
                    </a:solidFill>
                  </a:tcPr>
                </a:tc>
                <a:tc>
                  <a:txBody>
                    <a:bodyPr/>
                    <a:lstStyle/>
                    <a:p>
                      <a:r>
                        <a:rPr sz="1875" b="0">
                          <a:solidFill>
                            <a:srgbClr val="193B2B"/>
                          </a:solidFill>
                          <a:latin typeface="Liberation Sans"/>
                          <a:ea typeface="Liberation Sans"/>
                          <a:cs typeface="Liberation Sans"/>
                        </a:rPr>
                        <a:t>30</a:t>
                      </a:r>
                    </a:p>
                  </a:txBody>
                  <a:tcPr marL="91440" marR="91440" marT="45720" marB="45720">
                    <a:solidFill>
                      <a:srgbClr val="F4F4EB"/>
                    </a:solidFill>
                  </a:tcPr>
                </a:tc>
                <a:tc>
                  <a:txBody>
                    <a:bodyPr/>
                    <a:lstStyle/>
                    <a:p>
                      <a:r>
                        <a:rPr sz="1875" b="0">
                          <a:solidFill>
                            <a:srgbClr val="193B2B"/>
                          </a:solidFill>
                          <a:latin typeface="Liberation Sans"/>
                          <a:ea typeface="Liberation Sans"/>
                          <a:cs typeface="Liberation Sans"/>
                        </a:rPr>
                        <a:t>3,0 ms</a:t>
                      </a:r>
                    </a:p>
                  </a:txBody>
                  <a:tcPr marL="91440" marR="91440" marT="45720" marB="45720">
                    <a:solidFill>
                      <a:srgbClr val="F4F4EB"/>
                    </a:solidFill>
                  </a:tcPr>
                </a:tc>
                <a:tc>
                  <a:txBody>
                    <a:bodyPr/>
                    <a:lstStyle/>
                    <a:p>
                      <a:r>
                        <a:rPr sz="1875" b="0">
                          <a:solidFill>
                            <a:srgbClr val="193B2B"/>
                          </a:solidFill>
                          <a:latin typeface="Liberation Sans"/>
                          <a:ea typeface="Liberation Sans"/>
                          <a:cs typeface="Liberation Sans"/>
                        </a:rPr>
                        <a:t>3,9 ms</a:t>
                      </a:r>
                    </a:p>
                  </a:txBody>
                  <a:tcPr marL="91440" marR="91440" marT="45720" marB="45720">
                    <a:solidFill>
                      <a:srgbClr val="F4F4EB"/>
                    </a:solidFill>
                  </a:tcPr>
                </a:tc>
              </a:tr>
              <a:tr h="609600">
                <a:tc>
                  <a:txBody>
                    <a:bodyPr/>
                    <a:lstStyle/>
                    <a:p>
                      <a:r>
                        <a:rPr sz="1875" b="0">
                          <a:solidFill>
                            <a:srgbClr val="193B2B"/>
                          </a:solidFill>
                          <a:latin typeface="Liberation Sans"/>
                          <a:ea typeface="Liberation Sans"/>
                          <a:cs typeface="Liberation Sans"/>
                        </a:rPr>
                        <a:t>Tam rota + görünüm</a:t>
                      </a:r>
                    </a:p>
                  </a:txBody>
                  <a:tcPr marL="91440" marR="91440" marT="45720" marB="45720">
                    <a:solidFill>
                      <a:srgbClr val="F4F4EB"/>
                    </a:solidFill>
                  </a:tcPr>
                </a:tc>
                <a:tc>
                  <a:txBody>
                    <a:bodyPr/>
                    <a:lstStyle/>
                    <a:p>
                      <a:r>
                        <a:rPr sz="1875" b="0">
                          <a:solidFill>
                            <a:srgbClr val="193B2B"/>
                          </a:solidFill>
                          <a:latin typeface="Liberation Sans"/>
                          <a:ea typeface="Liberation Sans"/>
                          <a:cs typeface="Liberation Sans"/>
                        </a:rPr>
                        <a:t>6</a:t>
                      </a:r>
                    </a:p>
                  </a:txBody>
                  <a:tcPr marL="91440" marR="91440" marT="45720" marB="45720">
                    <a:solidFill>
                      <a:srgbClr val="F4F4EB"/>
                    </a:solidFill>
                  </a:tcPr>
                </a:tc>
                <a:tc>
                  <a:txBody>
                    <a:bodyPr/>
                    <a:lstStyle/>
                    <a:p>
                      <a:r>
                        <a:rPr sz="1875" b="0">
                          <a:solidFill>
                            <a:srgbClr val="193B2B"/>
                          </a:solidFill>
                          <a:latin typeface="Liberation Sans"/>
                          <a:ea typeface="Liberation Sans"/>
                          <a:cs typeface="Liberation Sans"/>
                        </a:rPr>
                        <a:t>16,52 sn</a:t>
                      </a:r>
                    </a:p>
                  </a:txBody>
                  <a:tcPr marL="91440" marR="91440" marT="45720" marB="45720">
                    <a:solidFill>
                      <a:srgbClr val="F4F4EB"/>
                    </a:solidFill>
                  </a:tcPr>
                </a:tc>
                <a:tc>
                  <a:txBody>
                    <a:bodyPr/>
                    <a:lstStyle/>
                    <a:p>
                      <a:r>
                        <a:rPr sz="1875" b="0">
                          <a:solidFill>
                            <a:srgbClr val="193B2B"/>
                          </a:solidFill>
                          <a:latin typeface="Liberation Sans"/>
                          <a:ea typeface="Liberation Sans"/>
                          <a:cs typeface="Liberation Sans"/>
                        </a:rPr>
                        <a:t>16,59 sn</a:t>
                      </a:r>
                    </a:p>
                  </a:txBody>
                  <a:tcPr marL="91440" marR="91440" marT="45720" marB="45720">
                    <a:solidFill>
                      <a:srgbClr val="F4F4EB"/>
                    </a:solidFill>
                  </a:tcPr>
                </a:tc>
              </a:tr>
            </a:tbl>
          </a:graphicData>
        </a:graphic>
      </p:graphicFrame>
      <p:sp>
        <p:nvSpPr>
          <p:cNvPr id="4" name="">
            <a:extLst xmlns:a="http://schemas.openxmlformats.org/drawingml/2006/main">
              <a:ext uri="{FF2B5EF4-FFF2-40B4-BE49-F238E27FC236}">
                <a16:creationId xmlns:a16="http://schemas.microsoft.com/office/drawing/2014/main" id="{F1AB58F3-CB58-4DE3-B494-F507855CE9DE}"/>
              </a:ext>
            </a:extLst>
          </p:cNvPr>
          <p:cNvSpPr>
            <a:spLocks xmlns:a="http://schemas.openxmlformats.org/drawingml/2006/main" noGrp="1"/>
          </p:cNvSpPr>
          <p:nvPr/>
        </p:nvSpPr>
        <p:spPr>
          <a:xfrm xmlns:a="http://schemas.openxmlformats.org/drawingml/2006/main">
            <a:off x="619125" y="52768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93B2B"/>
                </a:solidFill>
                <a:latin typeface="Liberation Sans"/>
                <a:ea typeface="Liberation Sans"/>
                <a:cs typeface="Liberation Sans"/>
              </a:defRPr>
            </a:pPr>
            <a:r>
              <a:rPr sz="1950" b="1">
                <a:solidFill>
                  <a:srgbClr val="193B2B"/>
                </a:solidFill>
                <a:latin typeface="Liberation Sans"/>
                <a:ea typeface="Liberation Sans"/>
                <a:cs typeface="Liberation Sans"/>
              </a:rPr>
              <a:t>113 farklı test ve iki temiz tekrar PASS. Eşzamanlılık 1.</a:t>
            </a:r>
          </a:p>
        </p:txBody>
      </p:sp>
      <p:sp>
        <p:nvSpPr>
          <p:cNvPr id="5" name="">
            <a:extLst xmlns:a="http://schemas.openxmlformats.org/drawingml/2006/main">
              <a:ext uri="{FF2B5EF4-FFF2-40B4-BE49-F238E27FC236}">
                <a16:creationId xmlns:a16="http://schemas.microsoft.com/office/drawing/2014/main" id="{8500D9B5-BE4E-4B30-9ECC-0398BF8D4880}"/>
              </a:ext>
            </a:extLst>
          </p:cNvPr>
          <p:cNvSpPr>
            <a:spLocks xmlns:a="http://schemas.openxmlformats.org/drawingml/2006/main" noGrp="1"/>
          </p:cNvSpPr>
          <p:nvPr/>
        </p:nvSpPr>
        <p:spPr>
          <a:xfrm xmlns:a="http://schemas.openxmlformats.org/drawingml/2006/main">
            <a:off x="619125" y="57816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93B2B"/>
                </a:solidFill>
                <a:latin typeface="Liberation Sans"/>
                <a:ea typeface="Liberation Sans"/>
                <a:cs typeface="Liberation Sans"/>
              </a:defRPr>
            </a:pPr>
            <a:r>
              <a:rPr sz="1650" b="0">
                <a:solidFill>
                  <a:srgbClr val="193B2B"/>
                </a:solidFill>
                <a:latin typeface="Liberation Sans"/>
                <a:ea typeface="Liberation Sans"/>
                <a:cs typeface="Liberation Sans"/>
              </a:rPr>
              <a:t>Kapasite/TPS iddiası yoktur. Ölçüm tanımları ve ham kanıt raporda.</a:t>
            </a:r>
          </a:p>
        </p:txBody>
      </p:sp>
      <p:sp>
        <p:nvSpPr>
          <p:cNvPr id="6" name="">
            <a:extLst xmlns:a="http://schemas.openxmlformats.org/drawingml/2006/main">
              <a:ext uri="{FF2B5EF4-FFF2-40B4-BE49-F238E27FC236}">
                <a16:creationId xmlns:a16="http://schemas.microsoft.com/office/drawing/2014/main" id="{09AB54F4-E434-46CF-9978-4775B89C8308}"/>
              </a:ext>
            </a:extLst>
          </p:cNvPr>
          <p:cNvSpPr>
            <a:spLocks xmlns:a="http://schemas.openxmlformats.org/drawingml/2006/main" noGrp="1"/>
          </p:cNvSpPr>
          <p:nvPr/>
        </p:nvSpPr>
        <p:spPr>
          <a:xfrm xmlns:a="http://schemas.openxmlformats.org/drawingml/2006/main">
            <a:off x="11334750" y="65151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93B2B"/>
                </a:solidFill>
                <a:latin typeface="Liberation Sans"/>
                <a:ea typeface="Liberation Sans"/>
                <a:cs typeface="Liberation Sans"/>
              </a:defRPr>
            </a:pPr>
            <a:r>
              <a:rPr sz="1350" b="0">
                <a:solidFill>
                  <a:srgbClr val="193B2B"/>
                </a:solidFill>
                <a:latin typeface="Liberation Sans"/>
                <a:ea typeface="Liberation Sans"/>
                <a:cs typeface="Liberation Sans"/>
              </a:rPr>
              <a:t>10</a:t>
            </a:r>
          </a:p>
        </p:txBody>
      </p:sp>
    </p:spTree>
    <p:extLst>
      <p:ext uri="{BB962C8B-B14F-4D97-AF65-F5344CB8AC3E}">
        <p14:creationId xmlns:p14="http://schemas.microsoft.com/office/powerpoint/2010/main" val="256993569"/>
      </p:ext>
    </p:extLst>
  </p:cSld>
</p:sld>
</file>

<file path=ppt/slides/slide11.xml><?xml version="1.0" encoding="utf-8"?>
<p:sld xmlns:p="http://schemas.openxmlformats.org/presentationml/2006/main">
  <p:cSld>
    <p:bg>
      <p:bgPr>
        <a:solidFill xmlns:a="http://schemas.openxmlformats.org/drawingml/2006/main">
          <a:srgbClr val="F4F4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E8B1C9B-1818-4D28-83D1-A8F91A349FC8}"/>
              </a:ext>
            </a:extLst>
          </p:cNvPr>
          <p:cNvSpPr>
            <a:spLocks xmlns:a="http://schemas.openxmlformats.org/drawingml/2006/main" noGrp="1"/>
          </p:cNvSpPr>
          <p:nvPr/>
        </p:nvSpPr>
        <p:spPr>
          <a:xfrm xmlns:a="http://schemas.openxmlformats.org/drawingml/2006/main">
            <a:off x="619125" y="428625"/>
            <a:ext cx="10906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93B2B"/>
                </a:solidFill>
                <a:latin typeface="Liberation Sans"/>
                <a:ea typeface="Liberation Sans"/>
                <a:cs typeface="Liberation Sans"/>
              </a:defRPr>
            </a:pPr>
            <a:r>
              <a:rPr sz="3450" b="1">
                <a:solidFill>
                  <a:srgbClr val="193B2B"/>
                </a:solidFill>
                <a:latin typeface="Liberation Sans"/>
                <a:ea typeface="Liberation Sans"/>
                <a:cs typeface="Liberation Sans"/>
              </a:rPr>
              <a:t>Üç dakikalık canlı gösterim</a:t>
            </a:r>
          </a:p>
        </p:txBody>
      </p:sp>
      <p:sp>
        <p:nvSpPr>
          <p:cNvPr id="2" name="">
            <a:extLst xmlns:a="http://schemas.openxmlformats.org/drawingml/2006/main">
              <a:ext uri="{FF2B5EF4-FFF2-40B4-BE49-F238E27FC236}">
                <a16:creationId xmlns:a16="http://schemas.microsoft.com/office/drawing/2014/main" id="{922DAC0A-8669-42F8-A820-E6582CDA92E9}"/>
              </a:ext>
            </a:extLst>
          </p:cNvPr>
          <p:cNvSpPr>
            <a:spLocks xmlns:a="http://schemas.openxmlformats.org/drawingml/2006/main" noGrp="1"/>
          </p:cNvSpPr>
          <p:nvPr/>
        </p:nvSpPr>
        <p:spPr>
          <a:xfrm xmlns:a="http://schemas.openxmlformats.org/drawingml/2006/main">
            <a:off x="619125" y="1428750"/>
            <a:ext cx="1090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93B2B"/>
                </a:solidFill>
                <a:latin typeface="Liberation Sans"/>
                <a:ea typeface="Liberation Sans"/>
                <a:cs typeface="Liberation Sans"/>
              </a:defRPr>
            </a:pPr>
            <a:r>
              <a:rPr sz="2250" b="0">
                <a:solidFill>
                  <a:srgbClr val="193B2B"/>
                </a:solidFill>
                <a:latin typeface="Liberation Sans"/>
                <a:ea typeface="Liberation Sans"/>
                <a:cs typeface="Liberation Sans"/>
              </a:rPr>
              <a:t>Önceden yüklenmiş iki partiyle tekrarlanabilir akış</a:t>
            </a:r>
          </a:p>
        </p:txBody>
      </p:sp>
      <p:sp>
        <p:nvSpPr>
          <p:cNvPr id="3" name="">
            <a:extLst xmlns:a="http://schemas.openxmlformats.org/drawingml/2006/main">
              <a:ext uri="{FF2B5EF4-FFF2-40B4-BE49-F238E27FC236}">
                <a16:creationId xmlns:a16="http://schemas.microsoft.com/office/drawing/2014/main" id="{5D10996B-62FE-45D5-AB4B-4A2F247670D1}"/>
              </a:ext>
            </a:extLst>
          </p:cNvPr>
          <p:cNvSpPr>
            <a:spLocks xmlns:a="http://schemas.openxmlformats.org/drawingml/2006/main" noGrp="1"/>
          </p:cNvSpPr>
          <p:nvPr/>
        </p:nvSpPr>
        <p:spPr>
          <a:xfrm xmlns:a="http://schemas.openxmlformats.org/drawingml/2006/main">
            <a:off x="619125" y="2524125"/>
            <a:ext cx="1071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93B2B"/>
                </a:solidFill>
                <a:latin typeface="Liberation Sans"/>
                <a:ea typeface="Liberation Sans"/>
                <a:cs typeface="Liberation Sans"/>
              </a:defRPr>
            </a:pPr>
            <a:r>
              <a:rPr sz="2400" b="0">
                <a:solidFill>
                  <a:srgbClr val="193B2B"/>
                </a:solidFill>
                <a:latin typeface="Liberation Sans"/>
                <a:ea typeface="Liberation Sans"/>
                <a:cs typeface="Liberation Sans"/>
              </a:rPr>
              <a:t>0:00–0:30  Pilot ve simülasyon sınırları</a:t>
            </a:r>
          </a:p>
        </p:txBody>
      </p:sp>
      <p:sp>
        <p:nvSpPr>
          <p:cNvPr id="4" name="">
            <a:extLst xmlns:a="http://schemas.openxmlformats.org/drawingml/2006/main">
              <a:ext uri="{FF2B5EF4-FFF2-40B4-BE49-F238E27FC236}">
                <a16:creationId xmlns:a16="http://schemas.microsoft.com/office/drawing/2014/main" id="{5026944E-5958-40CF-8A57-7E29E7573336}"/>
              </a:ext>
            </a:extLst>
          </p:cNvPr>
          <p:cNvSpPr>
            <a:spLocks xmlns:a="http://schemas.openxmlformats.org/drawingml/2006/main" noGrp="1"/>
          </p:cNvSpPr>
          <p:nvPr/>
        </p:nvSpPr>
        <p:spPr>
          <a:xfrm xmlns:a="http://schemas.openxmlformats.org/drawingml/2006/main">
            <a:off x="619125" y="3314700"/>
            <a:ext cx="1071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93B2B"/>
                </a:solidFill>
                <a:latin typeface="Liberation Sans"/>
                <a:ea typeface="Liberation Sans"/>
                <a:cs typeface="Liberation Sans"/>
              </a:defRPr>
            </a:pPr>
            <a:r>
              <a:rPr sz="2400" b="0">
                <a:solidFill>
                  <a:srgbClr val="193B2B"/>
                </a:solidFill>
                <a:latin typeface="Liberation Sans"/>
                <a:ea typeface="Liberation Sans"/>
                <a:cs typeface="Liberation Sans"/>
              </a:rPr>
              <a:t>0:30–1:35  Normal/şüpheli parti karşılaştırması ve geçmişler</a:t>
            </a:r>
          </a:p>
        </p:txBody>
      </p:sp>
      <p:sp>
        <p:nvSpPr>
          <p:cNvPr id="5" name="">
            <a:extLst xmlns:a="http://schemas.openxmlformats.org/drawingml/2006/main">
              <a:ext uri="{FF2B5EF4-FFF2-40B4-BE49-F238E27FC236}">
                <a16:creationId xmlns:a16="http://schemas.microsoft.com/office/drawing/2014/main" id="{84F8FE6B-E3F8-42EA-B938-35600AD9CC6C}"/>
              </a:ext>
            </a:extLst>
          </p:cNvPr>
          <p:cNvSpPr>
            <a:spLocks xmlns:a="http://schemas.openxmlformats.org/drawingml/2006/main" noGrp="1"/>
          </p:cNvSpPr>
          <p:nvPr/>
        </p:nvSpPr>
        <p:spPr>
          <a:xfrm xmlns:a="http://schemas.openxmlformats.org/drawingml/2006/main">
            <a:off x="619125" y="4105275"/>
            <a:ext cx="1071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93B2B"/>
                </a:solidFill>
                <a:latin typeface="Liberation Sans"/>
                <a:ea typeface="Liberation Sans"/>
                <a:cs typeface="Liberation Sans"/>
              </a:defRPr>
            </a:pPr>
            <a:r>
              <a:rPr sz="2400" b="0">
                <a:solidFill>
                  <a:srgbClr val="193B2B"/>
                </a:solidFill>
                <a:latin typeface="Liberation Sans"/>
                <a:ea typeface="Liberation Sans"/>
                <a:cs typeface="Liberation Sans"/>
              </a:rPr>
              <a:t>1:35–2:15  Yetkili inceleme ve özel veri sınırı</a:t>
            </a:r>
          </a:p>
        </p:txBody>
      </p:sp>
      <p:sp>
        <p:nvSpPr>
          <p:cNvPr id="6" name="">
            <a:extLst xmlns:a="http://schemas.openxmlformats.org/drawingml/2006/main">
              <a:ext uri="{FF2B5EF4-FFF2-40B4-BE49-F238E27FC236}">
                <a16:creationId xmlns:a16="http://schemas.microsoft.com/office/drawing/2014/main" id="{3AF895B3-6925-44E2-B56F-F0A7CC009AA1}"/>
              </a:ext>
            </a:extLst>
          </p:cNvPr>
          <p:cNvSpPr>
            <a:spLocks xmlns:a="http://schemas.openxmlformats.org/drawingml/2006/main" noGrp="1"/>
          </p:cNvSpPr>
          <p:nvPr/>
        </p:nvSpPr>
        <p:spPr>
          <a:xfrm xmlns:a="http://schemas.openxmlformats.org/drawingml/2006/main">
            <a:off x="619125" y="4895850"/>
            <a:ext cx="1071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93B2B"/>
                </a:solidFill>
                <a:latin typeface="Liberation Sans"/>
                <a:ea typeface="Liberation Sans"/>
                <a:cs typeface="Liberation Sans"/>
              </a:defRPr>
            </a:pPr>
            <a:r>
              <a:rPr sz="2400" b="0">
                <a:solidFill>
                  <a:srgbClr val="193B2B"/>
                </a:solidFill>
                <a:latin typeface="Liberation Sans"/>
                <a:ea typeface="Liberation Sans"/>
                <a:cs typeface="Liberation Sans"/>
              </a:rPr>
              <a:t>2:15–3:00  Tüketici QR görünümü ve kanıtların özeti</a:t>
            </a:r>
          </a:p>
        </p:txBody>
      </p:sp>
      <p:sp>
        <p:nvSpPr>
          <p:cNvPr id="7" name="">
            <a:extLst xmlns:a="http://schemas.openxmlformats.org/drawingml/2006/main">
              <a:ext uri="{FF2B5EF4-FFF2-40B4-BE49-F238E27FC236}">
                <a16:creationId xmlns:a16="http://schemas.microsoft.com/office/drawing/2014/main" id="{DAB1B3D6-19A5-4B22-8D29-397DF0DE6D09}"/>
              </a:ext>
            </a:extLst>
          </p:cNvPr>
          <p:cNvSpPr>
            <a:spLocks xmlns:a="http://schemas.openxmlformats.org/drawingml/2006/main" noGrp="1"/>
          </p:cNvSpPr>
          <p:nvPr/>
        </p:nvSpPr>
        <p:spPr>
          <a:xfrm xmlns:a="http://schemas.openxmlformats.org/drawingml/2006/main">
            <a:off x="11334750" y="65151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93B2B"/>
                </a:solidFill>
                <a:latin typeface="Liberation Sans"/>
                <a:ea typeface="Liberation Sans"/>
                <a:cs typeface="Liberation Sans"/>
              </a:defRPr>
            </a:pPr>
            <a:r>
              <a:rPr sz="1350" b="0">
                <a:solidFill>
                  <a:srgbClr val="193B2B"/>
                </a:solidFill>
                <a:latin typeface="Liberation Sans"/>
                <a:ea typeface="Liberation Sans"/>
                <a:cs typeface="Liberation Sans"/>
              </a:rPr>
              <a:t>11</a:t>
            </a:r>
          </a:p>
        </p:txBody>
      </p:sp>
    </p:spTree>
    <p:extLst>
      <p:ext uri="{BB962C8B-B14F-4D97-AF65-F5344CB8AC3E}">
        <p14:creationId xmlns:p14="http://schemas.microsoft.com/office/powerpoint/2010/main" val="905082861"/>
      </p:ext>
    </p:extLst>
  </p:cSld>
</p:sld>
</file>

<file path=ppt/slides/slide12.xml><?xml version="1.0" encoding="utf-8"?>
<p:sld xmlns:p="http://schemas.openxmlformats.org/presentationml/2006/main">
  <p:cSld>
    <p:bg>
      <p:bgPr>
        <a:solidFill xmlns:a="http://schemas.openxmlformats.org/drawingml/2006/main">
          <a:srgbClr val="F4F4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93BDE1-084C-40A1-91E9-EBC6010655D4}"/>
              </a:ext>
            </a:extLst>
          </p:cNvPr>
          <p:cNvSpPr>
            <a:spLocks xmlns:a="http://schemas.openxmlformats.org/drawingml/2006/main" noGrp="1"/>
          </p:cNvSpPr>
          <p:nvPr/>
        </p:nvSpPr>
        <p:spPr>
          <a:xfrm xmlns:a="http://schemas.openxmlformats.org/drawingml/2006/main">
            <a:off x="619125" y="428625"/>
            <a:ext cx="10906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93B2B"/>
                </a:solidFill>
                <a:latin typeface="Liberation Sans"/>
                <a:ea typeface="Liberation Sans"/>
                <a:cs typeface="Liberation Sans"/>
              </a:defRPr>
            </a:pPr>
            <a:r>
              <a:rPr sz="3450" b="1">
                <a:solidFill>
                  <a:srgbClr val="193B2B"/>
                </a:solidFill>
                <a:latin typeface="Liberation Sans"/>
                <a:ea typeface="Liberation Sans"/>
                <a:cs typeface="Liberation Sans"/>
              </a:rPr>
              <a:t>Pilotun sonucu ve sınırları</a:t>
            </a:r>
          </a:p>
        </p:txBody>
      </p:sp>
      <p:sp>
        <p:nvSpPr>
          <p:cNvPr id="2" name="">
            <a:extLst xmlns:a="http://schemas.openxmlformats.org/drawingml/2006/main">
              <a:ext uri="{FF2B5EF4-FFF2-40B4-BE49-F238E27FC236}">
                <a16:creationId xmlns:a16="http://schemas.microsoft.com/office/drawing/2014/main" id="{5E77D15C-D2FA-4679-9B1C-23B749327040}"/>
              </a:ext>
            </a:extLst>
          </p:cNvPr>
          <p:cNvSpPr>
            <a:spLocks xmlns:a="http://schemas.openxmlformats.org/drawingml/2006/main" noGrp="1"/>
          </p:cNvSpPr>
          <p:nvPr/>
        </p:nvSpPr>
        <p:spPr>
          <a:xfrm xmlns:a="http://schemas.openxmlformats.org/drawingml/2006/main">
            <a:off x="619125" y="1428750"/>
            <a:ext cx="1090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93B2B"/>
                </a:solidFill>
                <a:latin typeface="Liberation Sans"/>
                <a:ea typeface="Liberation Sans"/>
                <a:cs typeface="Liberation Sans"/>
              </a:defRPr>
            </a:pPr>
            <a:r>
              <a:rPr sz="2250" b="0">
                <a:solidFill>
                  <a:srgbClr val="193B2B"/>
                </a:solidFill>
                <a:latin typeface="Liberation Sans"/>
                <a:ea typeface="Liberation Sans"/>
                <a:cs typeface="Liberation Sans"/>
              </a:rPr>
              <a:t>Ürün izi, özel ticari veri ve açıklanabilir inceleme</a:t>
            </a:r>
          </a:p>
        </p:txBody>
      </p:sp>
      <p:sp>
        <p:nvSpPr>
          <p:cNvPr id="3" name="">
            <a:extLst xmlns:a="http://schemas.openxmlformats.org/drawingml/2006/main">
              <a:ext uri="{FF2B5EF4-FFF2-40B4-BE49-F238E27FC236}">
                <a16:creationId xmlns:a16="http://schemas.microsoft.com/office/drawing/2014/main" id="{FBA4B604-50B9-454A-A9A6-2FCBCE781EA4}"/>
              </a:ext>
            </a:extLst>
          </p:cNvPr>
          <p:cNvSpPr>
            <a:spLocks xmlns:a="http://schemas.openxmlformats.org/drawingml/2006/main" noGrp="1"/>
          </p:cNvSpPr>
          <p:nvPr/>
        </p:nvSpPr>
        <p:spPr>
          <a:xfrm xmlns:a="http://schemas.openxmlformats.org/drawingml/2006/main">
            <a:off x="619125" y="2524125"/>
            <a:ext cx="1071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93B2B"/>
                </a:solidFill>
                <a:latin typeface="Liberation Sans"/>
                <a:ea typeface="Liberation Sans"/>
                <a:cs typeface="Liberation Sans"/>
              </a:defRPr>
            </a:pPr>
            <a:r>
              <a:rPr sz="2400" b="0">
                <a:solidFill>
                  <a:srgbClr val="193B2B"/>
                </a:solidFill>
                <a:latin typeface="Liberation Sans"/>
                <a:ea typeface="Liberation Sans"/>
                <a:cs typeface="Liberation Sans"/>
              </a:rPr>
              <a:t>Dört kuruluş kimliğiyle çalışan uçtan uca yerel akış.</a:t>
            </a:r>
          </a:p>
        </p:txBody>
      </p:sp>
      <p:sp>
        <p:nvSpPr>
          <p:cNvPr id="4" name="">
            <a:extLst xmlns:a="http://schemas.openxmlformats.org/drawingml/2006/main">
              <a:ext uri="{FF2B5EF4-FFF2-40B4-BE49-F238E27FC236}">
                <a16:creationId xmlns:a16="http://schemas.microsoft.com/office/drawing/2014/main" id="{F5326578-B65D-42F5-BF7B-C8E69284A369}"/>
              </a:ext>
            </a:extLst>
          </p:cNvPr>
          <p:cNvSpPr>
            <a:spLocks xmlns:a="http://schemas.openxmlformats.org/drawingml/2006/main" noGrp="1"/>
          </p:cNvSpPr>
          <p:nvPr/>
        </p:nvSpPr>
        <p:spPr>
          <a:xfrm xmlns:a="http://schemas.openxmlformats.org/drawingml/2006/main">
            <a:off x="619125" y="3524250"/>
            <a:ext cx="1071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93B2B"/>
                </a:solidFill>
                <a:latin typeface="Liberation Sans"/>
                <a:ea typeface="Liberation Sans"/>
                <a:cs typeface="Liberation Sans"/>
              </a:defRPr>
            </a:pPr>
            <a:r>
              <a:rPr sz="2400" b="0">
                <a:solidFill>
                  <a:srgbClr val="193B2B"/>
                </a:solidFill>
                <a:latin typeface="Liberation Sans"/>
                <a:ea typeface="Liberation Sans"/>
                <a:cs typeface="Liberation Sans"/>
              </a:rPr>
              <a:t>Gerçek kurum erişimi, bağımsız işletim ve üretim kimlik yönetimi sonraki çalışmalar.</a:t>
            </a:r>
          </a:p>
        </p:txBody>
      </p:sp>
      <p:sp>
        <p:nvSpPr>
          <p:cNvPr id="5" name="">
            <a:extLst xmlns:a="http://schemas.openxmlformats.org/drawingml/2006/main">
              <a:ext uri="{FF2B5EF4-FFF2-40B4-BE49-F238E27FC236}">
                <a16:creationId xmlns:a16="http://schemas.microsoft.com/office/drawing/2014/main" id="{2484CD1D-3637-453A-A8E4-4CC65D0E5576}"/>
              </a:ext>
            </a:extLst>
          </p:cNvPr>
          <p:cNvSpPr>
            <a:spLocks xmlns:a="http://schemas.openxmlformats.org/drawingml/2006/main" noGrp="1"/>
          </p:cNvSpPr>
          <p:nvPr/>
        </p:nvSpPr>
        <p:spPr>
          <a:xfrm xmlns:a="http://schemas.openxmlformats.org/drawingml/2006/main">
            <a:off x="619125" y="4524375"/>
            <a:ext cx="1071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93B2B"/>
                </a:solidFill>
                <a:latin typeface="Liberation Sans"/>
                <a:ea typeface="Liberation Sans"/>
                <a:cs typeface="Liberation Sans"/>
              </a:defRPr>
            </a:pPr>
            <a:r>
              <a:rPr sz="2400" b="0">
                <a:solidFill>
                  <a:srgbClr val="193B2B"/>
                </a:solidFill>
                <a:latin typeface="Liberation Sans"/>
                <a:ea typeface="Liberation Sans"/>
                <a:cs typeface="Liberation Sans"/>
              </a:rPr>
              <a:t>Ağ kullanılamazsa açıkça etiketlenmiş çevrimdışı kanıt paketi.</a:t>
            </a:r>
          </a:p>
        </p:txBody>
      </p:sp>
      <p:sp>
        <p:nvSpPr>
          <p:cNvPr id="6" name="">
            <a:extLst xmlns:a="http://schemas.openxmlformats.org/drawingml/2006/main">
              <a:ext uri="{FF2B5EF4-FFF2-40B4-BE49-F238E27FC236}">
                <a16:creationId xmlns:a16="http://schemas.microsoft.com/office/drawing/2014/main" id="{E29B5C36-3C2A-4972-8127-FB43601FBA96}"/>
              </a:ext>
            </a:extLst>
          </p:cNvPr>
          <p:cNvSpPr>
            <a:spLocks xmlns:a="http://schemas.openxmlformats.org/drawingml/2006/main" noGrp="1"/>
          </p:cNvSpPr>
          <p:nvPr/>
        </p:nvSpPr>
        <p:spPr>
          <a:xfrm xmlns:a="http://schemas.openxmlformats.org/drawingml/2006/main">
            <a:off x="619125" y="6000750"/>
            <a:ext cx="1090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06352"/>
                </a:solidFill>
                <a:latin typeface="Liberation Sans"/>
                <a:ea typeface="Liberation Sans"/>
                <a:cs typeface="Liberation Sans"/>
              </a:defRPr>
            </a:pPr>
            <a:r>
              <a:rPr sz="1575" b="0">
                <a:solidFill>
                  <a:srgbClr val="506352"/>
                </a:solidFill>
                <a:latin typeface="Liberation Sans"/>
                <a:ea typeface="Liberation Sans"/>
                <a:cs typeface="Liberation Sans"/>
              </a:rPr>
              <a:t>Mühendislik teslimi. Yarışma portalına başvuru veya resmi uygunluk onayı değildir.</a:t>
            </a:r>
          </a:p>
        </p:txBody>
      </p:sp>
      <p:sp>
        <p:nvSpPr>
          <p:cNvPr id="7" name="">
            <a:extLst xmlns:a="http://schemas.openxmlformats.org/drawingml/2006/main">
              <a:ext uri="{FF2B5EF4-FFF2-40B4-BE49-F238E27FC236}">
                <a16:creationId xmlns:a16="http://schemas.microsoft.com/office/drawing/2014/main" id="{585A0482-7E5D-421E-B3FB-F418043F7F70}"/>
              </a:ext>
            </a:extLst>
          </p:cNvPr>
          <p:cNvSpPr>
            <a:spLocks xmlns:a="http://schemas.openxmlformats.org/drawingml/2006/main" noGrp="1"/>
          </p:cNvSpPr>
          <p:nvPr/>
        </p:nvSpPr>
        <p:spPr>
          <a:xfrm xmlns:a="http://schemas.openxmlformats.org/drawingml/2006/main">
            <a:off x="11334750" y="65151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93B2B"/>
                </a:solidFill>
                <a:latin typeface="Liberation Sans"/>
                <a:ea typeface="Liberation Sans"/>
                <a:cs typeface="Liberation Sans"/>
              </a:defRPr>
            </a:pPr>
            <a:r>
              <a:rPr sz="1350" b="0">
                <a:solidFill>
                  <a:srgbClr val="193B2B"/>
                </a:solidFill>
                <a:latin typeface="Liberation Sans"/>
                <a:ea typeface="Liberation Sans"/>
                <a:cs typeface="Liberation Sans"/>
              </a:rPr>
              <a:t>12</a:t>
            </a:r>
          </a:p>
        </p:txBody>
      </p:sp>
    </p:spTree>
    <p:extLst>
      <p:ext uri="{BB962C8B-B14F-4D97-AF65-F5344CB8AC3E}">
        <p14:creationId xmlns:p14="http://schemas.microsoft.com/office/powerpoint/2010/main" val="17909838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2026-09-23T18:55:40.0280000Z</dcterms:created>
  <dcterms:modified xsi:type="dcterms:W3CDTF">2026-09-23T18:55:40.0280000Z</dcterms:modified>
</coreProperties>
</file>